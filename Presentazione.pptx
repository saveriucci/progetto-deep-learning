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61" r:id="rId4"/>
    <p:sldId id="259" r:id="rId5"/>
    <p:sldId id="260" r:id="rId6"/>
    <p:sldId id="262" r:id="rId7"/>
    <p:sldId id="263" r:id="rId8"/>
    <p:sldId id="264" r:id="rId9"/>
    <p:sldId id="265" r:id="rId10"/>
    <p:sldId id="267" r:id="rId11"/>
    <p:sldId id="268" r:id="rId12"/>
    <p:sldId id="269" r:id="rId13"/>
    <p:sldId id="270" r:id="rId14"/>
    <p:sldId id="271" r:id="rId15"/>
    <p:sldId id="272" r:id="rId16"/>
    <p:sldId id="273" r:id="rId17"/>
    <p:sldId id="274" r:id="rId18"/>
    <p:sldId id="275" r:id="rId19"/>
    <p:sldId id="276" r:id="rId20"/>
    <p:sldId id="266" r:id="rId2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D40024-56A7-F46B-C837-8152A50605B0}" v="1" dt="2026-02-07T23:53:01.706"/>
    <p1510:client id="{48856C53-B2D2-4A65-8313-07A850A60813}" v="1" dt="2026-02-08T00:32:59.389"/>
    <p1510:client id="{6713B32C-8BF3-CFD2-7222-7FB6F3DDC05F}" v="1" dt="2026-02-08T00:22:06.081"/>
    <p1510:client id="{8F860572-B260-4C10-814A-132CFD6122E1}" v="40" dt="2026-02-08T00:26:22.733"/>
    <p1510:client id="{95E3B74B-EDFF-4CCB-9F18-3437602B4F20}" v="7" dt="2026-02-07T23:55:30.306"/>
    <p1510:client id="{CF9B0E3E-2438-D709-1C4B-EFC3CD6C8F6F}" v="9" dt="2026-02-08T00:01:15.8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48D0C-978E-452F-AC6B-A3716D7E1CD9}" type="datetimeFigureOut">
              <a:rPr lang="it-IT" smtClean="0"/>
              <a:t>08/02/2026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AF7A94-90FC-4B27-94A5-5AC58DF5D7C6}" type="slidenum">
              <a:rPr lang="it-IT" smtClean="0"/>
              <a:t>‹N›</a:t>
            </a:fld>
            <a:endParaRPr lang="it-IT"/>
          </a:p>
        </p:txBody>
      </p:sp>
    </p:spTree>
    <p:extLst>
      <p:ext uri="{BB962C8B-B14F-4D97-AF65-F5344CB8AC3E}">
        <p14:creationId xmlns:p14="http://schemas.microsoft.com/office/powerpoint/2010/main" val="203444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49" name="Text Box 1"/>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4070693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15A97C-1DEC-6576-D56E-673C09B2A57A}"/>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E257EC2C-0F9D-E403-6AF2-D86B05B4B222}"/>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65E03A10-9249-3CC9-3896-A43F3BC5B233}"/>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3680767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4BB3E4-137E-11CE-3E9F-BA13279761C4}"/>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ADEB403F-C768-4615-D4ED-112D1326166B}"/>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8F85A941-1C57-8776-1FA3-9CFE5D3F0A00}"/>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308058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B3ED65-9FF5-161E-6FDE-AD02406250F3}"/>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66A1C9A3-0C1D-2A73-D2F9-82F8FBB16F49}"/>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42946275-A3D9-4E6B-7D0C-90E073C07176}"/>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3990319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A05B0A-A5F0-FD4C-3CE2-761AD2CD4800}"/>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B10C816F-656E-4C51-292A-8F63562C9766}"/>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1210DAFA-A46E-9ACB-4428-EF22FB3BB914}"/>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717708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E326BB4-84E3-4C6C-572A-0F5107D6CE4E}"/>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E17E9CC3-E6F9-48E1-1499-AFB6EE790D92}"/>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47F4DBD1-D2DB-2D50-311C-8E8958F8EEEF}"/>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4223216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3FFC04-2CB3-69EE-23BA-1507E0B87522}"/>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8AB99AE4-48AE-4F45-FA07-6818C3A230CF}"/>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7CBE768F-0F1B-6936-E7D4-6494A2258EDF}"/>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2117444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D311341-671F-82C3-3513-3A38EA738419}"/>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0C6BEF4B-8A72-40B9-140A-28387D3DC2F5}"/>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4BDE609B-7F06-2ED1-1953-64A3984FE76F}"/>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719810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381EA44-741A-FD0F-572E-D3041235CEFC}"/>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48251296-D525-348F-AE04-E1AAB29029BF}"/>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6DFD6C56-D293-3F65-BDB6-F8B3D0E1A5D6}"/>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073537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D99A39D-238D-B58A-8A49-1103C7CF45A8}"/>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D21F1591-CB09-F1B9-03AD-1B5254E34425}"/>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3A2DB58A-C510-2891-34AF-DEC6A3B838D7}"/>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2804762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EE4128A-2985-F63C-211D-34B3B6ECB843}"/>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3BEEDD1B-3EEE-82B9-8CEB-FF63080FD3EC}"/>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6F6AE67D-C14D-4915-26BA-BF55899B4B51}"/>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548366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242B5A9-5E9E-6740-B62F-303993A1A1AC}"/>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1F55F42C-7147-CE17-7B22-090FA9CBA22E}"/>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92F5DDCE-9FF9-E968-0776-EA1472C56630}"/>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851593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C48007A-D610-1194-9F0B-7887A0101F45}"/>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C4245D50-A91F-7F64-93FE-542BE2D93130}"/>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D3754D8F-2999-9E11-CF1E-E519A08DED3D}"/>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765383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579A06-C16B-4C90-B657-3F1D5FC0A217}"/>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6103F8EC-4435-07F6-583E-FF0C2C4A5299}"/>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F7D25010-038E-319E-3C1D-D322615F8548}"/>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3369726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AA69907-8363-6F2E-42A0-B5974F7C2F7E}"/>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3A1C8CD3-E3BB-8817-BCCE-8352EFBE0E18}"/>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C33937A0-E717-F2D0-400E-84C199C916A9}"/>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4083657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9531DF-B082-6536-8CF0-DABE57DEAD67}"/>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15E5B574-C42E-4420-26E8-2FCDE84115D1}"/>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9FAB6CD9-42F5-4806-0F14-621686797918}"/>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7646977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139CB5C-E05C-5D16-259B-53A2063B36CC}"/>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2F6B6A44-9EF1-88F0-E108-15A04F3385EB}"/>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76FC842B-ABFC-04F2-D7EB-C55E0B4CA683}"/>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504072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37F781F-4745-61C1-A27B-DB20D7FEEDD6}"/>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C1325A56-B60D-ACDB-1C7B-5BDBAD87625F}"/>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68B43DBA-D3E9-E6E6-EE88-B1038E180F15}"/>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2121490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E6FAE0-47F3-53EA-6403-46C7DD3CBA53}"/>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2A128B6A-741B-0F1B-7095-997A9CB5D335}"/>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C53526C9-6660-0CE8-627A-E695D73FDD36}"/>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4288524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E173241-2850-A9C1-D279-AB6F605AF570}"/>
            </a:ext>
          </a:extLst>
        </p:cNvPr>
        <p:cNvGrpSpPr/>
        <p:nvPr/>
      </p:nvGrpSpPr>
      <p:grpSpPr>
        <a:xfrm>
          <a:off x="0" y="0"/>
          <a:ext cx="0" cy="0"/>
          <a:chOff x="0" y="0"/>
          <a:chExt cx="0" cy="0"/>
        </a:xfrm>
      </p:grpSpPr>
      <p:sp>
        <p:nvSpPr>
          <p:cNvPr id="27649" name="Text Box 1">
            <a:extLst>
              <a:ext uri="{FF2B5EF4-FFF2-40B4-BE49-F238E27FC236}">
                <a16:creationId xmlns:a16="http://schemas.microsoft.com/office/drawing/2014/main" id="{4C7F8125-7A3D-72E0-9C26-8D1CAB10A3B5}"/>
              </a:ext>
            </a:extLst>
          </p:cNvPr>
          <p:cNvSpPr txBox="1">
            <a:spLocks noGrp="1" noRot="1" noChangeAspect="1" noChangeArrowheads="1"/>
          </p:cNvSpPr>
          <p:nvPr>
            <p:ph type="sldImg"/>
          </p:nvPr>
        </p:nvSpPr>
        <p:spPr bwMode="auto">
          <a:xfrm>
            <a:off x="90488" y="744538"/>
            <a:ext cx="6616700" cy="3722687"/>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a:extLst>
              <a:ext uri="{FF2B5EF4-FFF2-40B4-BE49-F238E27FC236}">
                <a16:creationId xmlns:a16="http://schemas.microsoft.com/office/drawing/2014/main" id="{1A39D12E-4377-D4FE-4843-1EB0F7FF8C0F}"/>
              </a:ext>
            </a:extLst>
          </p:cNvPr>
          <p:cNvSpPr txBox="1">
            <a:spLocks noGrp="1" noChangeArrowheads="1"/>
          </p:cNvSpPr>
          <p:nvPr>
            <p:ph type="body" idx="1"/>
          </p:nvPr>
        </p:nvSpPr>
        <p:spPr bwMode="auto">
          <a:xfrm>
            <a:off x="679768" y="4715154"/>
            <a:ext cx="5438140" cy="4466987"/>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2197189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80FECD-05C9-49E2-2E86-A3D4C0C33A77}"/>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65F0F49D-2FD3-7B0F-3CAE-700954332F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8C08EB08-56AC-8533-FD8E-203F168DD710}"/>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5" name="Segnaposto piè di pagina 4">
            <a:extLst>
              <a:ext uri="{FF2B5EF4-FFF2-40B4-BE49-F238E27FC236}">
                <a16:creationId xmlns:a16="http://schemas.microsoft.com/office/drawing/2014/main" id="{739F45D7-677B-CE53-5656-F0EC26E637D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7216195-7603-09B1-FC48-8E2A2FBE2877}"/>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2038773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625AD9-FBD2-54F9-17DF-3865C8FE706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BB67FE0-DE15-7630-09AA-27F24E6D63A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C185F8E-7F4A-3B4E-3C94-6C171D8AD4EF}"/>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5" name="Segnaposto piè di pagina 4">
            <a:extLst>
              <a:ext uri="{FF2B5EF4-FFF2-40B4-BE49-F238E27FC236}">
                <a16:creationId xmlns:a16="http://schemas.microsoft.com/office/drawing/2014/main" id="{951EC192-CDD0-2C98-1270-6BD16977E1A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C927B66-8BA2-3FB7-7BC8-CBD14B3758DA}"/>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2538241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E6BF1E0-2C2D-8547-C9A7-E39F3F1B2B5E}"/>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8F81D79-306F-491A-076E-F5619972C1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FD58CBA6-B6F7-2403-E812-920728D343D0}"/>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5" name="Segnaposto piè di pagina 4">
            <a:extLst>
              <a:ext uri="{FF2B5EF4-FFF2-40B4-BE49-F238E27FC236}">
                <a16:creationId xmlns:a16="http://schemas.microsoft.com/office/drawing/2014/main" id="{05028446-D340-7F32-8339-B8D75B93D45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8E4EDD3-E8A5-9446-5E87-A42A19666686}"/>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502148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04ADC3-DEEA-1AE8-E1F0-0358C9D348C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E1A149F-AC94-25BC-B043-045875EEF7FB}"/>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C5C4EBC9-10B9-1D14-5947-FC4452A65A9F}"/>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56C101E-4210-41A5-7777-5507EB4E0A54}"/>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6" name="Segnaposto piè di pagina 5">
            <a:extLst>
              <a:ext uri="{FF2B5EF4-FFF2-40B4-BE49-F238E27FC236}">
                <a16:creationId xmlns:a16="http://schemas.microsoft.com/office/drawing/2014/main" id="{C8EDC95E-1001-1924-C9BF-1613C88B3D4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42D81EF-40D3-E87D-D528-63A2F0DFA7FA}"/>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744169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5FA7E1D-EA85-F517-24C3-B22B7D520C2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0EECFAF-5124-B3DF-7719-4109725DF7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3AB30921-248D-012A-16AC-48E9A0099882}"/>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97E6CBEB-1C46-33FE-24D1-A0C6909130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1FA5A3C-43E6-2F81-1D5E-C5D6163DC730}"/>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3DDBBD1F-A551-74C8-F884-F427CD7DFAA0}"/>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8" name="Segnaposto piè di pagina 7">
            <a:extLst>
              <a:ext uri="{FF2B5EF4-FFF2-40B4-BE49-F238E27FC236}">
                <a16:creationId xmlns:a16="http://schemas.microsoft.com/office/drawing/2014/main" id="{6F1786D4-49BC-6347-CCBB-DBECE5BE1BF7}"/>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982B4779-25F8-BABD-1E53-8D3E6ECED9E2}"/>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3915715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B00EA24-3E02-7721-6730-9ED947B9FB8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7F264CC8-6A84-CA94-BB66-B52FCF1C0D23}"/>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4" name="Segnaposto piè di pagina 3">
            <a:extLst>
              <a:ext uri="{FF2B5EF4-FFF2-40B4-BE49-F238E27FC236}">
                <a16:creationId xmlns:a16="http://schemas.microsoft.com/office/drawing/2014/main" id="{AE29E562-EB0F-13B8-F545-DB76BFA7A4B6}"/>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C7623689-CFE6-2C0E-CEB2-211E962CFDEC}"/>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1236395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A27A5389-2DAD-B58F-D919-80AA0BEB123F}"/>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3" name="Segnaposto piè di pagina 2">
            <a:extLst>
              <a:ext uri="{FF2B5EF4-FFF2-40B4-BE49-F238E27FC236}">
                <a16:creationId xmlns:a16="http://schemas.microsoft.com/office/drawing/2014/main" id="{8069176D-94B8-E075-51C5-0976F67CDDC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E9FFC18A-A946-D3E2-3F54-512878D434CA}"/>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2033386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22D055-F5EC-9B31-14C1-4167A5AE606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39E159F-99E1-00AE-0BC3-A38C792488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F49829F5-D716-0CB9-FB55-470E23A70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66BEC3A-E06D-4CCC-683C-2BD110EEEC00}"/>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6" name="Segnaposto piè di pagina 5">
            <a:extLst>
              <a:ext uri="{FF2B5EF4-FFF2-40B4-BE49-F238E27FC236}">
                <a16:creationId xmlns:a16="http://schemas.microsoft.com/office/drawing/2014/main" id="{EC22539D-ACD6-8CA4-6E7D-6202D65292C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C866124-807D-511A-ACF3-14606308DA29}"/>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3263849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377A35A-5198-46D9-F2ED-FB8E0940BFE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6B3B0AB0-FD5C-5F16-335F-31EE618D45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D609CCB-2788-5906-32B4-F45D127E36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3FFCE6A-9A1E-37EA-D7DC-B8B5A26B1D50}"/>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6" name="Segnaposto piè di pagina 5">
            <a:extLst>
              <a:ext uri="{FF2B5EF4-FFF2-40B4-BE49-F238E27FC236}">
                <a16:creationId xmlns:a16="http://schemas.microsoft.com/office/drawing/2014/main" id="{89539FFE-0BD9-602A-E4D7-7A07BE8C936B}"/>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5F36282-1E86-DEF6-94D7-0564CA30C62B}"/>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284692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7BF5AB0-A8B3-B74F-7BCE-35C9C12D587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3D026E2-B013-1B59-0BF0-5864F637B190}"/>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11CBD03-1699-F059-D968-F634B52B96FE}"/>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5" name="Segnaposto piè di pagina 4">
            <a:extLst>
              <a:ext uri="{FF2B5EF4-FFF2-40B4-BE49-F238E27FC236}">
                <a16:creationId xmlns:a16="http://schemas.microsoft.com/office/drawing/2014/main" id="{65451039-8A00-1CC5-0F58-36EDF14A7D3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7F56BB3-AFA8-649B-B917-A151D600B102}"/>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826327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34B2D593-BB39-A154-8F24-859E91C7E4B0}"/>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D66E7298-074C-A96E-D100-4784DCFFB836}"/>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28BB4E2-7054-C328-4A6C-AC6FD2F38C4F}"/>
              </a:ext>
            </a:extLst>
          </p:cNvPr>
          <p:cNvSpPr>
            <a:spLocks noGrp="1"/>
          </p:cNvSpPr>
          <p:nvPr>
            <p:ph type="dt" sz="half" idx="10"/>
          </p:nvPr>
        </p:nvSpPr>
        <p:spPr/>
        <p:txBody>
          <a:bodyPr/>
          <a:lstStyle/>
          <a:p>
            <a:fld id="{85709ACF-C63D-4911-9B74-E6B49C031BB6}" type="datetimeFigureOut">
              <a:rPr lang="it-IT" smtClean="0"/>
              <a:t>08/02/2026</a:t>
            </a:fld>
            <a:endParaRPr lang="it-IT"/>
          </a:p>
        </p:txBody>
      </p:sp>
      <p:sp>
        <p:nvSpPr>
          <p:cNvPr id="5" name="Segnaposto piè di pagina 4">
            <a:extLst>
              <a:ext uri="{FF2B5EF4-FFF2-40B4-BE49-F238E27FC236}">
                <a16:creationId xmlns:a16="http://schemas.microsoft.com/office/drawing/2014/main" id="{DEBCB9B9-7273-1650-BD01-BB436EF6C7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B32D850-DD02-4E20-BB78-48C3781793FA}"/>
              </a:ext>
            </a:extLst>
          </p:cNvPr>
          <p:cNvSpPr>
            <a:spLocks noGrp="1"/>
          </p:cNvSpPr>
          <p:nvPr>
            <p:ph type="sldNum" sz="quarter" idx="12"/>
          </p:nvPr>
        </p:nvSpPr>
        <p:spPr/>
        <p:txBody>
          <a:bodyPr/>
          <a:lstStyle/>
          <a:p>
            <a:fld id="{34BE8594-DFBB-4AF7-A74A-9651689E7882}" type="slidenum">
              <a:rPr lang="it-IT" smtClean="0"/>
              <a:t>‹N›</a:t>
            </a:fld>
            <a:endParaRPr lang="it-IT"/>
          </a:p>
        </p:txBody>
      </p:sp>
    </p:spTree>
    <p:extLst>
      <p:ext uri="{BB962C8B-B14F-4D97-AF65-F5344CB8AC3E}">
        <p14:creationId xmlns:p14="http://schemas.microsoft.com/office/powerpoint/2010/main" val="2600493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ayout personalizzato">
    <p:spTree>
      <p:nvGrpSpPr>
        <p:cNvPr id="1" name=""/>
        <p:cNvGrpSpPr/>
        <p:nvPr/>
      </p:nvGrpSpPr>
      <p:grpSpPr>
        <a:xfrm>
          <a:off x="0" y="0"/>
          <a:ext cx="0" cy="0"/>
          <a:chOff x="0" y="0"/>
          <a:chExt cx="0" cy="0"/>
        </a:xfrm>
      </p:grpSpPr>
      <p:sp>
        <p:nvSpPr>
          <p:cNvPr id="2" name="Title 1"/>
          <p:cNvSpPr>
            <a:spLocks noGrp="1"/>
          </p:cNvSpPr>
          <p:nvPr>
            <p:ph type="title"/>
          </p:nvPr>
        </p:nvSpPr>
        <p:spPr>
          <a:xfrm>
            <a:off x="624420" y="477837"/>
            <a:ext cx="10970683" cy="1066800"/>
          </a:xfrm>
        </p:spPr>
        <p:txBody>
          <a:bodyPr/>
          <a:lstStyle/>
          <a:p>
            <a:r>
              <a:rPr lang="it-IT"/>
              <a:t>Fare clic per modificare stile</a:t>
            </a:r>
            <a:endParaRPr lang="en-US"/>
          </a:p>
        </p:txBody>
      </p:sp>
    </p:spTree>
    <p:extLst>
      <p:ext uri="{BB962C8B-B14F-4D97-AF65-F5344CB8AC3E}">
        <p14:creationId xmlns:p14="http://schemas.microsoft.com/office/powerpoint/2010/main" val="1638416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D335442-B142-4E67-5AAD-F5580902D5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80BAF58F-3012-0CA6-45AF-8ED162A0C2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16D2606-0294-0FC3-B86A-AD412C10C5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709ACF-C63D-4911-9B74-E6B49C031BB6}" type="datetimeFigureOut">
              <a:rPr lang="it-IT" smtClean="0"/>
              <a:t>08/02/2026</a:t>
            </a:fld>
            <a:endParaRPr lang="it-IT"/>
          </a:p>
        </p:txBody>
      </p:sp>
      <p:sp>
        <p:nvSpPr>
          <p:cNvPr id="5" name="Segnaposto piè di pagina 4">
            <a:extLst>
              <a:ext uri="{FF2B5EF4-FFF2-40B4-BE49-F238E27FC236}">
                <a16:creationId xmlns:a16="http://schemas.microsoft.com/office/drawing/2014/main" id="{7F0EEDC0-2F8D-4269-70BF-09641A2906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4417B6B9-3EA7-B60D-CBC5-F2C3EB36C9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BE8594-DFBB-4AF7-A74A-9651689E7882}" type="slidenum">
              <a:rPr lang="it-IT" smtClean="0"/>
              <a:t>‹N›</a:t>
            </a:fld>
            <a:endParaRPr lang="it-IT"/>
          </a:p>
        </p:txBody>
      </p:sp>
    </p:spTree>
    <p:extLst>
      <p:ext uri="{BB962C8B-B14F-4D97-AF65-F5344CB8AC3E}">
        <p14:creationId xmlns:p14="http://schemas.microsoft.com/office/powerpoint/2010/main" val="2192836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2"/>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5" name="Rectangle 1"/>
          <p:cNvSpPr>
            <a:spLocks noGrp="1" noChangeArrowheads="1"/>
          </p:cNvSpPr>
          <p:nvPr>
            <p:ph type="title" idx="4294967295"/>
          </p:nvPr>
        </p:nvSpPr>
        <p:spPr>
          <a:xfrm>
            <a:off x="1893347" y="965273"/>
            <a:ext cx="8405308" cy="2604175"/>
          </a:xfrm>
          <a:ln/>
        </p:spPr>
        <p:txBody>
          <a:bodyPr>
            <a:normAutofit/>
          </a:bodyPr>
          <a:lstStyle/>
          <a:p>
            <a:pPr algn="ctr"/>
            <a:r>
              <a:rPr lang="it-IT" sz="4250">
                <a:solidFill>
                  <a:srgbClr val="003365"/>
                </a:solidFill>
                <a:ea typeface="+mj-lt"/>
                <a:cs typeface="+mj-lt"/>
              </a:rPr>
              <a:t>Fine Tuning –SLM: Fare bene con poco</a:t>
            </a:r>
            <a:endParaRPr lang="it-IT"/>
          </a:p>
        </p:txBody>
      </p:sp>
      <p:sp>
        <p:nvSpPr>
          <p:cNvPr id="6" name="Text Box 2"/>
          <p:cNvSpPr txBox="1">
            <a:spLocks noChangeArrowheads="1"/>
          </p:cNvSpPr>
          <p:nvPr/>
        </p:nvSpPr>
        <p:spPr bwMode="auto">
          <a:xfrm>
            <a:off x="4548187" y="5288211"/>
            <a:ext cx="3095625" cy="124867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pPr algn="ctr">
              <a:spcBef>
                <a:spcPts val="875"/>
              </a:spcBef>
            </a:pPr>
            <a:r>
              <a:rPr lang="it-IT" sz="2000">
                <a:latin typeface="Calibri"/>
                <a:ea typeface="Calibri"/>
                <a:cs typeface="Calibri"/>
              </a:rPr>
              <a:t>Presentazione </a:t>
            </a:r>
            <a:endParaRPr lang="it-IT" sz="2000">
              <a:latin typeface="Calibri" charset="0"/>
              <a:ea typeface="Calibri" charset="0"/>
              <a:cs typeface="Calibri" charset="0"/>
            </a:endParaRPr>
          </a:p>
          <a:p>
            <a:pPr algn="ctr">
              <a:spcBef>
                <a:spcPts val="875"/>
              </a:spcBef>
            </a:pPr>
            <a:r>
              <a:rPr lang="it-IT" sz="2000">
                <a:latin typeface="Calibri"/>
                <a:ea typeface="Calibri"/>
                <a:cs typeface="Calibri"/>
              </a:rPr>
              <a:t>Marta D’Ingillo</a:t>
            </a:r>
          </a:p>
          <a:p>
            <a:pPr algn="ctr">
              <a:spcBef>
                <a:spcPts val="875"/>
              </a:spcBef>
            </a:pPr>
            <a:r>
              <a:rPr lang="it-IT" sz="2000">
                <a:latin typeface="Calibri"/>
                <a:ea typeface="Calibri"/>
                <a:cs typeface="Calibri"/>
              </a:rPr>
              <a:t>Farinelli Thomas</a:t>
            </a:r>
            <a:endParaRPr lang="it-IT" sz="2000" b="1">
              <a:latin typeface="Calibri" charset="0"/>
              <a:ea typeface="Calibri" charset="0"/>
              <a:cs typeface="Calibri" charset="0"/>
            </a:endParaRPr>
          </a:p>
        </p:txBody>
      </p:sp>
      <p:sp>
        <p:nvSpPr>
          <p:cNvPr id="8" name="Text Box 4"/>
          <p:cNvSpPr txBox="1">
            <a:spLocks noChangeArrowheads="1"/>
          </p:cNvSpPr>
          <p:nvPr/>
        </p:nvSpPr>
        <p:spPr bwMode="auto">
          <a:xfrm>
            <a:off x="3035300" y="2819558"/>
            <a:ext cx="6121400" cy="9562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pPr algn="ctr">
              <a:buClrTx/>
              <a:buFontTx/>
              <a:buNone/>
            </a:pPr>
            <a:r>
              <a:rPr lang="it-IT" sz="2800" b="1">
                <a:latin typeface="Calibri" charset="0"/>
                <a:ea typeface="Calibri" charset="0"/>
                <a:cs typeface="Calibri" charset="0"/>
              </a:rPr>
              <a:t>Progetto 2: Strutturare</a:t>
            </a:r>
          </a:p>
          <a:p>
            <a:pPr algn="ctr">
              <a:buClrTx/>
              <a:buFontTx/>
              <a:buNone/>
            </a:pPr>
            <a:r>
              <a:rPr lang="it-IT" sz="2800" b="1">
                <a:latin typeface="Calibri" charset="0"/>
                <a:ea typeface="Calibri" charset="0"/>
                <a:cs typeface="Calibri" charset="0"/>
              </a:rPr>
              <a:t>"Scrivimelo come dico io"</a:t>
            </a:r>
          </a:p>
        </p:txBody>
      </p:sp>
      <p:sp>
        <p:nvSpPr>
          <p:cNvPr id="10" name="Rettangolo 9"/>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Tree>
    <p:extLst>
      <p:ext uri="{BB962C8B-B14F-4D97-AF65-F5344CB8AC3E}">
        <p14:creationId xmlns:p14="http://schemas.microsoft.com/office/powerpoint/2010/main" val="190424706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DAB63-EA7C-2A82-9129-E274B5703188}"/>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BA09AFC3-9342-2D41-0F4E-124DB57B5008}"/>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2FA2CCF5-1B65-0413-B157-7F7D187CFF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5C219BDA-BCE3-F19B-333A-B61E7D7B6CCB}"/>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6" name="Text Box 2">
            <a:extLst>
              <a:ext uri="{FF2B5EF4-FFF2-40B4-BE49-F238E27FC236}">
                <a16:creationId xmlns:a16="http://schemas.microsoft.com/office/drawing/2014/main" id="{D1A73CA4-2477-85FA-4737-323BBDB653B7}"/>
              </a:ext>
            </a:extLst>
          </p:cNvPr>
          <p:cNvSpPr txBox="1">
            <a:spLocks noChangeArrowheads="1"/>
          </p:cNvSpPr>
          <p:nvPr/>
        </p:nvSpPr>
        <p:spPr bwMode="auto">
          <a:xfrm>
            <a:off x="0" y="1038405"/>
            <a:ext cx="12192000" cy="71006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pPr>
              <a:spcBef>
                <a:spcPts val="875"/>
              </a:spcBef>
            </a:pPr>
            <a:r>
              <a:rPr lang="it-IT" sz="2000" b="1">
                <a:latin typeface="Calibri"/>
                <a:ea typeface="Calibri"/>
                <a:cs typeface="Calibri"/>
              </a:rPr>
              <a:t>Obiettivo: </a:t>
            </a:r>
            <a:r>
              <a:rPr lang="it-IT" sz="2000">
                <a:latin typeface="Calibri"/>
                <a:ea typeface="Calibri"/>
                <a:cs typeface="Calibri"/>
              </a:rPr>
              <a:t>Estrarre informazioni da un testo naturale e selezionare quelle importanti e formattarle in un formato rigido (Es. </a:t>
            </a:r>
            <a:r>
              <a:rPr lang="it-IT" sz="2000" err="1">
                <a:latin typeface="Calibri"/>
                <a:ea typeface="Calibri"/>
                <a:cs typeface="Calibri"/>
              </a:rPr>
              <a:t>Json</a:t>
            </a:r>
            <a:r>
              <a:rPr lang="it-IT" sz="2000">
                <a:latin typeface="Calibri"/>
                <a:ea typeface="Calibri"/>
                <a:cs typeface="Calibri"/>
              </a:rPr>
              <a:t>), in modo da poter essere utilizzate successivamente.</a:t>
            </a:r>
            <a:endParaRPr lang="it-IT" sz="2000">
              <a:latin typeface="Calibri" charset="0"/>
              <a:ea typeface="Calibri" charset="0"/>
              <a:cs typeface="Calibri" charset="0"/>
            </a:endParaRPr>
          </a:p>
        </p:txBody>
      </p:sp>
      <p:sp>
        <p:nvSpPr>
          <p:cNvPr id="10" name="Rettangolo 9">
            <a:extLst>
              <a:ext uri="{FF2B5EF4-FFF2-40B4-BE49-F238E27FC236}">
                <a16:creationId xmlns:a16="http://schemas.microsoft.com/office/drawing/2014/main" id="{FE67E900-4ECD-A907-AF73-A7479FEBB54B}"/>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7" name="Text Box 2">
            <a:extLst>
              <a:ext uri="{FF2B5EF4-FFF2-40B4-BE49-F238E27FC236}">
                <a16:creationId xmlns:a16="http://schemas.microsoft.com/office/drawing/2014/main" id="{900A312E-D404-A20F-7132-49F511339F15}"/>
              </a:ext>
            </a:extLst>
          </p:cNvPr>
          <p:cNvSpPr txBox="1">
            <a:spLocks noChangeArrowheads="1"/>
          </p:cNvSpPr>
          <p:nvPr/>
        </p:nvSpPr>
        <p:spPr bwMode="auto">
          <a:xfrm>
            <a:off x="0" y="1934609"/>
            <a:ext cx="12192000" cy="509588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pPr>
              <a:spcBef>
                <a:spcPts val="875"/>
              </a:spcBef>
            </a:pPr>
            <a:r>
              <a:rPr lang="it-IT" sz="2000" b="1">
                <a:latin typeface="Calibri"/>
                <a:ea typeface="Calibri"/>
                <a:cs typeface="Calibri"/>
              </a:rPr>
              <a:t>Dataset Scelto: </a:t>
            </a:r>
            <a:r>
              <a:rPr lang="it-IT" err="1">
                <a:latin typeface="Calibri" panose="020F0502020204030204" pitchFamily="34" charset="0"/>
                <a:ea typeface="Calibri" panose="020F0502020204030204" pitchFamily="34" charset="0"/>
                <a:cs typeface="Calibri" panose="020F0502020204030204" pitchFamily="34" charset="0"/>
              </a:rPr>
              <a:t>RecipeNLG</a:t>
            </a:r>
            <a:r>
              <a:rPr lang="it-IT">
                <a:latin typeface="Calibri" panose="020F0502020204030204" pitchFamily="34" charset="0"/>
                <a:ea typeface="Calibri" panose="020F0502020204030204" pitchFamily="34" charset="0"/>
                <a:cs typeface="Calibri" panose="020F0502020204030204" pitchFamily="34" charset="0"/>
              </a:rPr>
              <a:t> che comprende 2 milioni di ricette descritte nel seguente formato:</a:t>
            </a:r>
          </a:p>
          <a:p>
            <a:pPr marL="342900" indent="-34290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id (int): ID.</a:t>
            </a:r>
          </a:p>
          <a:p>
            <a:pPr marL="342900" indent="-34290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title (str): </a:t>
            </a:r>
            <a:r>
              <a:rPr lang="en-US" err="1">
                <a:latin typeface="Calibri" panose="020F0502020204030204" pitchFamily="34" charset="0"/>
                <a:ea typeface="Calibri" panose="020F0502020204030204" pitchFamily="34" charset="0"/>
                <a:cs typeface="Calibri" panose="020F0502020204030204" pitchFamily="34" charset="0"/>
              </a:rPr>
              <a:t>Rappresenta</a:t>
            </a:r>
            <a:r>
              <a:rPr lang="en-US">
                <a:latin typeface="Calibri" panose="020F0502020204030204" pitchFamily="34" charset="0"/>
                <a:ea typeface="Calibri" panose="020F0502020204030204" pitchFamily="34" charset="0"/>
                <a:cs typeface="Calibri" panose="020F0502020204030204" pitchFamily="34" charset="0"/>
              </a:rPr>
              <a:t> il </a:t>
            </a:r>
            <a:r>
              <a:rPr lang="en-US" err="1">
                <a:latin typeface="Calibri" panose="020F0502020204030204" pitchFamily="34" charset="0"/>
                <a:ea typeface="Calibri" panose="020F0502020204030204" pitchFamily="34" charset="0"/>
                <a:cs typeface="Calibri" panose="020F0502020204030204" pitchFamily="34" charset="0"/>
              </a:rPr>
              <a:t>titolo</a:t>
            </a:r>
            <a:r>
              <a:rPr lang="en-US">
                <a:latin typeface="Calibri" panose="020F0502020204030204" pitchFamily="34" charset="0"/>
                <a:ea typeface="Calibri" panose="020F0502020204030204" pitchFamily="34" charset="0"/>
                <a:cs typeface="Calibri" panose="020F0502020204030204" pitchFamily="34" charset="0"/>
              </a:rPr>
              <a:t> della </a:t>
            </a:r>
            <a:r>
              <a:rPr lang="en-US" err="1">
                <a:latin typeface="Calibri" panose="020F0502020204030204" pitchFamily="34" charset="0"/>
                <a:ea typeface="Calibri" panose="020F0502020204030204" pitchFamily="34" charset="0"/>
                <a:cs typeface="Calibri" panose="020F0502020204030204" pitchFamily="34" charset="0"/>
              </a:rPr>
              <a:t>ricetta</a:t>
            </a:r>
            <a:r>
              <a:rPr lang="en-US">
                <a:latin typeface="Calibri" panose="020F0502020204030204" pitchFamily="34" charset="0"/>
                <a:ea typeface="Calibri" panose="020F0502020204030204" pitchFamily="34" charset="0"/>
                <a:cs typeface="Calibri" panose="020F0502020204030204" pitchFamily="34" charset="0"/>
              </a:rPr>
              <a:t>.</a:t>
            </a:r>
          </a:p>
          <a:p>
            <a:pPr marL="342900" indent="-34290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ingredients (list of str): Lista degli ingredient </a:t>
            </a:r>
            <a:r>
              <a:rPr lang="en-US" err="1">
                <a:latin typeface="Calibri" panose="020F0502020204030204" pitchFamily="34" charset="0"/>
                <a:ea typeface="Calibri" panose="020F0502020204030204" pitchFamily="34" charset="0"/>
                <a:cs typeface="Calibri" panose="020F0502020204030204" pitchFamily="34" charset="0"/>
              </a:rPr>
              <a:t>utilizzati</a:t>
            </a:r>
            <a:r>
              <a:rPr lang="en-US">
                <a:latin typeface="Calibri" panose="020F0502020204030204" pitchFamily="34" charset="0"/>
                <a:ea typeface="Calibri" panose="020F0502020204030204" pitchFamily="34" charset="0"/>
                <a:cs typeface="Calibri" panose="020F0502020204030204" pitchFamily="34" charset="0"/>
              </a:rPr>
              <a:t>.</a:t>
            </a:r>
          </a:p>
          <a:p>
            <a:pPr marL="342900" indent="-34290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directions (list of str): </a:t>
            </a:r>
            <a:r>
              <a:rPr lang="en-US" err="1">
                <a:latin typeface="Calibri" panose="020F0502020204030204" pitchFamily="34" charset="0"/>
                <a:ea typeface="Calibri" panose="020F0502020204030204" pitchFamily="34" charset="0"/>
                <a:cs typeface="Calibri" panose="020F0502020204030204" pitchFamily="34" charset="0"/>
              </a:rPr>
              <a:t>Istruzioni</a:t>
            </a:r>
            <a:r>
              <a:rPr lang="en-US">
                <a:latin typeface="Calibri" panose="020F0502020204030204" pitchFamily="34" charset="0"/>
                <a:ea typeface="Calibri" panose="020F0502020204030204" pitchFamily="34" charset="0"/>
                <a:cs typeface="Calibri" panose="020F0502020204030204" pitchFamily="34" charset="0"/>
              </a:rPr>
              <a:t>.</a:t>
            </a:r>
          </a:p>
          <a:p>
            <a:pPr marL="342900" indent="-34290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link (str): URL link.</a:t>
            </a:r>
          </a:p>
          <a:p>
            <a:pPr marL="342900" indent="-34290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source (</a:t>
            </a:r>
            <a:r>
              <a:rPr lang="en-US" err="1">
                <a:latin typeface="Calibri" panose="020F0502020204030204" pitchFamily="34" charset="0"/>
                <a:ea typeface="Calibri" panose="020F0502020204030204" pitchFamily="34" charset="0"/>
                <a:cs typeface="Calibri" panose="020F0502020204030204" pitchFamily="34" charset="0"/>
              </a:rPr>
              <a:t>ClassLabel</a:t>
            </a:r>
            <a:r>
              <a:rPr lang="en-US">
                <a:latin typeface="Calibri" panose="020F0502020204030204" pitchFamily="34" charset="0"/>
                <a:ea typeface="Calibri" panose="020F0502020204030204" pitchFamily="34" charset="0"/>
                <a:cs typeface="Calibri" panose="020F0502020204030204" pitchFamily="34" charset="0"/>
              </a:rPr>
              <a:t>): </a:t>
            </a:r>
            <a:r>
              <a:rPr lang="it-IT"/>
              <a:t>Origine della ricetta ({"</a:t>
            </a:r>
            <a:r>
              <a:rPr lang="it-IT" err="1"/>
              <a:t>Gathered</a:t>
            </a:r>
            <a:r>
              <a:rPr lang="it-IT"/>
              <a:t>", "Recipes1M"}): "</a:t>
            </a:r>
            <a:r>
              <a:rPr lang="it-IT" err="1"/>
              <a:t>Gathered</a:t>
            </a:r>
            <a:r>
              <a:rPr lang="it-IT"/>
              <a:t>" (0): ricette raccolte automaticamente da vari siti web.</a:t>
            </a:r>
            <a:endParaRPr lang="en-US">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NER (list of str): </a:t>
            </a:r>
            <a:r>
              <a:rPr lang="en-US" err="1">
                <a:latin typeface="Calibri" panose="020F0502020204030204" pitchFamily="34" charset="0"/>
                <a:ea typeface="Calibri" panose="020F0502020204030204" pitchFamily="34" charset="0"/>
                <a:cs typeface="Calibri" panose="020F0502020204030204" pitchFamily="34" charset="0"/>
              </a:rPr>
              <a:t>Entità</a:t>
            </a:r>
            <a:r>
              <a:rPr lang="en-US">
                <a:latin typeface="Calibri" panose="020F0502020204030204" pitchFamily="34" charset="0"/>
                <a:ea typeface="Calibri" panose="020F0502020204030204" pitchFamily="34" charset="0"/>
                <a:cs typeface="Calibri" panose="020F0502020204030204" pitchFamily="34" charset="0"/>
              </a:rPr>
              <a:t> </a:t>
            </a:r>
            <a:r>
              <a:rPr lang="en-US" err="1">
                <a:latin typeface="Calibri" panose="020F0502020204030204" pitchFamily="34" charset="0"/>
                <a:ea typeface="Calibri" panose="020F0502020204030204" pitchFamily="34" charset="0"/>
                <a:cs typeface="Calibri" panose="020F0502020204030204" pitchFamily="34" charset="0"/>
              </a:rPr>
              <a:t>alimentari</a:t>
            </a:r>
            <a:r>
              <a:rPr lang="en-US">
                <a:latin typeface="Calibri" panose="020F0502020204030204" pitchFamily="34" charset="0"/>
                <a:ea typeface="Calibri" panose="020F0502020204030204" pitchFamily="34" charset="0"/>
                <a:cs typeface="Calibri" panose="020F0502020204030204" pitchFamily="34" charset="0"/>
              </a:rPr>
              <a:t>.</a:t>
            </a:r>
            <a:endParaRPr lang="it-IT" sz="2000">
              <a:latin typeface="Calibri" charset="0"/>
              <a:ea typeface="Calibri" charset="0"/>
              <a:cs typeface="Calibri" charset="0"/>
            </a:endParaRPr>
          </a:p>
          <a:p>
            <a:pPr>
              <a:spcBef>
                <a:spcPts val="875"/>
              </a:spcBef>
            </a:pPr>
            <a:r>
              <a:rPr lang="it-IT">
                <a:latin typeface="Calibri" panose="020F0502020204030204" pitchFamily="34" charset="0"/>
                <a:ea typeface="Calibri" panose="020F0502020204030204" pitchFamily="34" charset="0"/>
                <a:cs typeface="Calibri" panose="020F0502020204030204" pitchFamily="34" charset="0"/>
              </a:rPr>
              <a:t>0,No-Bake Nut Cookies,"[""1 c. </a:t>
            </a:r>
            <a:r>
              <a:rPr lang="it-IT" err="1">
                <a:latin typeface="Calibri" panose="020F0502020204030204" pitchFamily="34" charset="0"/>
                <a:ea typeface="Calibri" panose="020F0502020204030204" pitchFamily="34" charset="0"/>
                <a:cs typeface="Calibri" panose="020F0502020204030204" pitchFamily="34" charset="0"/>
              </a:rPr>
              <a:t>firmly</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packed</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brown</a:t>
            </a:r>
            <a:r>
              <a:rPr lang="it-IT">
                <a:latin typeface="Calibri" panose="020F0502020204030204" pitchFamily="34" charset="0"/>
                <a:ea typeface="Calibri" panose="020F0502020204030204" pitchFamily="34" charset="0"/>
                <a:cs typeface="Calibri" panose="020F0502020204030204" pitchFamily="34" charset="0"/>
              </a:rPr>
              <a:t> sugar"", ""1/2 c. </a:t>
            </a:r>
            <a:r>
              <a:rPr lang="it-IT" err="1">
                <a:latin typeface="Calibri" panose="020F0502020204030204" pitchFamily="34" charset="0"/>
                <a:ea typeface="Calibri" panose="020F0502020204030204" pitchFamily="34" charset="0"/>
                <a:cs typeface="Calibri" panose="020F0502020204030204" pitchFamily="34" charset="0"/>
              </a:rPr>
              <a:t>evaporated</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milk</a:t>
            </a:r>
            <a:r>
              <a:rPr lang="it-IT">
                <a:latin typeface="Calibri" panose="020F0502020204030204" pitchFamily="34" charset="0"/>
                <a:ea typeface="Calibri" panose="020F0502020204030204" pitchFamily="34" charset="0"/>
                <a:cs typeface="Calibri" panose="020F0502020204030204" pitchFamily="34" charset="0"/>
              </a:rPr>
              <a:t>"", ""1/2 </a:t>
            </a:r>
            <a:r>
              <a:rPr lang="it-IT" err="1">
                <a:latin typeface="Calibri" panose="020F0502020204030204" pitchFamily="34" charset="0"/>
                <a:ea typeface="Calibri" panose="020F0502020204030204" pitchFamily="34" charset="0"/>
                <a:cs typeface="Calibri" panose="020F0502020204030204" pitchFamily="34" charset="0"/>
              </a:rPr>
              <a:t>tsp</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vanilla</a:t>
            </a:r>
            <a:r>
              <a:rPr lang="it-IT">
                <a:latin typeface="Calibri" panose="020F0502020204030204" pitchFamily="34" charset="0"/>
                <a:ea typeface="Calibri" panose="020F0502020204030204" pitchFamily="34" charset="0"/>
                <a:cs typeface="Calibri" panose="020F0502020204030204" pitchFamily="34" charset="0"/>
              </a:rPr>
              <a:t>"", ""1/2 c. </a:t>
            </a:r>
            <a:r>
              <a:rPr lang="it-IT" err="1">
                <a:latin typeface="Calibri" panose="020F0502020204030204" pitchFamily="34" charset="0"/>
                <a:ea typeface="Calibri" panose="020F0502020204030204" pitchFamily="34" charset="0"/>
                <a:cs typeface="Calibri" panose="020F0502020204030204" pitchFamily="34" charset="0"/>
              </a:rPr>
              <a:t>broken</a:t>
            </a:r>
            <a:r>
              <a:rPr lang="it-IT">
                <a:latin typeface="Calibri" panose="020F0502020204030204" pitchFamily="34" charset="0"/>
                <a:ea typeface="Calibri" panose="020F0502020204030204" pitchFamily="34" charset="0"/>
                <a:cs typeface="Calibri" panose="020F0502020204030204" pitchFamily="34" charset="0"/>
              </a:rPr>
              <a:t> nuts (</a:t>
            </a:r>
            <a:r>
              <a:rPr lang="it-IT" err="1">
                <a:latin typeface="Calibri" panose="020F0502020204030204" pitchFamily="34" charset="0"/>
                <a:ea typeface="Calibri" panose="020F0502020204030204" pitchFamily="34" charset="0"/>
                <a:cs typeface="Calibri" panose="020F0502020204030204" pitchFamily="34" charset="0"/>
              </a:rPr>
              <a:t>pecans</a:t>
            </a:r>
            <a:r>
              <a:rPr lang="it-IT">
                <a:latin typeface="Calibri" panose="020F0502020204030204" pitchFamily="34" charset="0"/>
                <a:ea typeface="Calibri" panose="020F0502020204030204" pitchFamily="34" charset="0"/>
                <a:cs typeface="Calibri" panose="020F0502020204030204" pitchFamily="34" charset="0"/>
              </a:rPr>
              <a:t>)"", ""2 </a:t>
            </a:r>
            <a:r>
              <a:rPr lang="it-IT" err="1">
                <a:latin typeface="Calibri" panose="020F0502020204030204" pitchFamily="34" charset="0"/>
                <a:ea typeface="Calibri" panose="020F0502020204030204" pitchFamily="34" charset="0"/>
                <a:cs typeface="Calibri" panose="020F0502020204030204" pitchFamily="34" charset="0"/>
              </a:rPr>
              <a:t>Tbsp</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butter</a:t>
            </a:r>
            <a:r>
              <a:rPr lang="it-IT">
                <a:latin typeface="Calibri" panose="020F0502020204030204" pitchFamily="34" charset="0"/>
                <a:ea typeface="Calibri" panose="020F0502020204030204" pitchFamily="34" charset="0"/>
                <a:cs typeface="Calibri" panose="020F0502020204030204" pitchFamily="34" charset="0"/>
              </a:rPr>
              <a:t> or margarine"", ""3 1/2 c. bite size </a:t>
            </a:r>
            <a:r>
              <a:rPr lang="it-IT" err="1">
                <a:latin typeface="Calibri" panose="020F0502020204030204" pitchFamily="34" charset="0"/>
                <a:ea typeface="Calibri" panose="020F0502020204030204" pitchFamily="34" charset="0"/>
                <a:cs typeface="Calibri" panose="020F0502020204030204" pitchFamily="34" charset="0"/>
              </a:rPr>
              <a:t>shredded</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rice</a:t>
            </a:r>
            <a:r>
              <a:rPr lang="it-IT">
                <a:latin typeface="Calibri" panose="020F0502020204030204" pitchFamily="34" charset="0"/>
                <a:ea typeface="Calibri" panose="020F0502020204030204" pitchFamily="34" charset="0"/>
                <a:cs typeface="Calibri" panose="020F0502020204030204" pitchFamily="34" charset="0"/>
              </a:rPr>
              <a:t> biscuits""]","[""In a heavy 2-quart </a:t>
            </a:r>
            <a:r>
              <a:rPr lang="it-IT" err="1">
                <a:latin typeface="Calibri" panose="020F0502020204030204" pitchFamily="34" charset="0"/>
                <a:ea typeface="Calibri" panose="020F0502020204030204" pitchFamily="34" charset="0"/>
                <a:cs typeface="Calibri" panose="020F0502020204030204" pitchFamily="34" charset="0"/>
              </a:rPr>
              <a:t>saucepan</a:t>
            </a:r>
            <a:r>
              <a:rPr lang="it-IT">
                <a:latin typeface="Calibri" panose="020F0502020204030204" pitchFamily="34" charset="0"/>
                <a:ea typeface="Calibri" panose="020F0502020204030204" pitchFamily="34" charset="0"/>
                <a:cs typeface="Calibri" panose="020F0502020204030204" pitchFamily="34" charset="0"/>
              </a:rPr>
              <a:t>, mix </a:t>
            </a:r>
            <a:r>
              <a:rPr lang="it-IT" err="1">
                <a:latin typeface="Calibri" panose="020F0502020204030204" pitchFamily="34" charset="0"/>
                <a:ea typeface="Calibri" panose="020F0502020204030204" pitchFamily="34" charset="0"/>
                <a:cs typeface="Calibri" panose="020F0502020204030204" pitchFamily="34" charset="0"/>
              </a:rPr>
              <a:t>brown</a:t>
            </a:r>
            <a:r>
              <a:rPr lang="it-IT">
                <a:latin typeface="Calibri" panose="020F0502020204030204" pitchFamily="34" charset="0"/>
                <a:ea typeface="Calibri" panose="020F0502020204030204" pitchFamily="34" charset="0"/>
                <a:cs typeface="Calibri" panose="020F0502020204030204" pitchFamily="34" charset="0"/>
              </a:rPr>
              <a:t> sugar, nuts, </a:t>
            </a:r>
            <a:r>
              <a:rPr lang="it-IT" err="1">
                <a:latin typeface="Calibri" panose="020F0502020204030204" pitchFamily="34" charset="0"/>
                <a:ea typeface="Calibri" panose="020F0502020204030204" pitchFamily="34" charset="0"/>
                <a:cs typeface="Calibri" panose="020F0502020204030204" pitchFamily="34" charset="0"/>
              </a:rPr>
              <a:t>evaporated</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milk</a:t>
            </a:r>
            <a:r>
              <a:rPr lang="it-IT">
                <a:latin typeface="Calibri" panose="020F0502020204030204" pitchFamily="34" charset="0"/>
                <a:ea typeface="Calibri" panose="020F0502020204030204" pitchFamily="34" charset="0"/>
                <a:cs typeface="Calibri" panose="020F0502020204030204" pitchFamily="34" charset="0"/>
              </a:rPr>
              <a:t> and </a:t>
            </a:r>
            <a:r>
              <a:rPr lang="it-IT" err="1">
                <a:latin typeface="Calibri" panose="020F0502020204030204" pitchFamily="34" charset="0"/>
                <a:ea typeface="Calibri" panose="020F0502020204030204" pitchFamily="34" charset="0"/>
                <a:cs typeface="Calibri" panose="020F0502020204030204" pitchFamily="34" charset="0"/>
              </a:rPr>
              <a:t>butter</a:t>
            </a:r>
            <a:r>
              <a:rPr lang="it-IT">
                <a:latin typeface="Calibri" panose="020F0502020204030204" pitchFamily="34" charset="0"/>
                <a:ea typeface="Calibri" panose="020F0502020204030204" pitchFamily="34" charset="0"/>
                <a:cs typeface="Calibri" panose="020F0502020204030204" pitchFamily="34" charset="0"/>
              </a:rPr>
              <a:t> or margarine."", ""Stir over medium </a:t>
            </a:r>
            <a:r>
              <a:rPr lang="it-IT" err="1">
                <a:latin typeface="Calibri" panose="020F0502020204030204" pitchFamily="34" charset="0"/>
                <a:ea typeface="Calibri" panose="020F0502020204030204" pitchFamily="34" charset="0"/>
                <a:cs typeface="Calibri" panose="020F0502020204030204" pitchFamily="34" charset="0"/>
              </a:rPr>
              <a:t>heat</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until</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mixture</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bubbles</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all</a:t>
            </a:r>
            <a:r>
              <a:rPr lang="it-IT">
                <a:latin typeface="Calibri" panose="020F0502020204030204" pitchFamily="34" charset="0"/>
                <a:ea typeface="Calibri" panose="020F0502020204030204" pitchFamily="34" charset="0"/>
                <a:cs typeface="Calibri" panose="020F0502020204030204" pitchFamily="34" charset="0"/>
              </a:rPr>
              <a:t> over top."", ""</a:t>
            </a:r>
            <a:r>
              <a:rPr lang="it-IT" err="1">
                <a:latin typeface="Calibri" panose="020F0502020204030204" pitchFamily="34" charset="0"/>
                <a:ea typeface="Calibri" panose="020F0502020204030204" pitchFamily="34" charset="0"/>
                <a:cs typeface="Calibri" panose="020F0502020204030204" pitchFamily="34" charset="0"/>
              </a:rPr>
              <a:t>Boil</a:t>
            </a:r>
            <a:r>
              <a:rPr lang="it-IT">
                <a:latin typeface="Calibri" panose="020F0502020204030204" pitchFamily="34" charset="0"/>
                <a:ea typeface="Calibri" panose="020F0502020204030204" pitchFamily="34" charset="0"/>
                <a:cs typeface="Calibri" panose="020F0502020204030204" pitchFamily="34" charset="0"/>
              </a:rPr>
              <a:t> and </a:t>
            </a:r>
            <a:r>
              <a:rPr lang="it-IT" err="1">
                <a:latin typeface="Calibri" panose="020F0502020204030204" pitchFamily="34" charset="0"/>
                <a:ea typeface="Calibri" panose="020F0502020204030204" pitchFamily="34" charset="0"/>
                <a:cs typeface="Calibri" panose="020F0502020204030204" pitchFamily="34" charset="0"/>
              </a:rPr>
              <a:t>stir</a:t>
            </a:r>
            <a:r>
              <a:rPr lang="it-IT">
                <a:latin typeface="Calibri" panose="020F0502020204030204" pitchFamily="34" charset="0"/>
                <a:ea typeface="Calibri" panose="020F0502020204030204" pitchFamily="34" charset="0"/>
                <a:cs typeface="Calibri" panose="020F0502020204030204" pitchFamily="34" charset="0"/>
              </a:rPr>
              <a:t> 5 minutes more. Take off </a:t>
            </a:r>
            <a:r>
              <a:rPr lang="it-IT" err="1">
                <a:latin typeface="Calibri" panose="020F0502020204030204" pitchFamily="34" charset="0"/>
                <a:ea typeface="Calibri" panose="020F0502020204030204" pitchFamily="34" charset="0"/>
                <a:cs typeface="Calibri" panose="020F0502020204030204" pitchFamily="34" charset="0"/>
              </a:rPr>
              <a:t>heat</a:t>
            </a:r>
            <a:r>
              <a:rPr lang="it-IT">
                <a:latin typeface="Calibri" panose="020F0502020204030204" pitchFamily="34" charset="0"/>
                <a:ea typeface="Calibri" panose="020F0502020204030204" pitchFamily="34" charset="0"/>
                <a:cs typeface="Calibri" panose="020F0502020204030204" pitchFamily="34" charset="0"/>
              </a:rPr>
              <a:t>."", ""Stir in </a:t>
            </a:r>
            <a:r>
              <a:rPr lang="it-IT" err="1">
                <a:latin typeface="Calibri" panose="020F0502020204030204" pitchFamily="34" charset="0"/>
                <a:ea typeface="Calibri" panose="020F0502020204030204" pitchFamily="34" charset="0"/>
                <a:cs typeface="Calibri" panose="020F0502020204030204" pitchFamily="34" charset="0"/>
              </a:rPr>
              <a:t>vanilla</a:t>
            </a:r>
            <a:r>
              <a:rPr lang="it-IT">
                <a:latin typeface="Calibri" panose="020F0502020204030204" pitchFamily="34" charset="0"/>
                <a:ea typeface="Calibri" panose="020F0502020204030204" pitchFamily="34" charset="0"/>
                <a:cs typeface="Calibri" panose="020F0502020204030204" pitchFamily="34" charset="0"/>
              </a:rPr>
              <a:t> and </a:t>
            </a:r>
            <a:r>
              <a:rPr lang="it-IT" err="1">
                <a:latin typeface="Calibri" panose="020F0502020204030204" pitchFamily="34" charset="0"/>
                <a:ea typeface="Calibri" panose="020F0502020204030204" pitchFamily="34" charset="0"/>
                <a:cs typeface="Calibri" panose="020F0502020204030204" pitchFamily="34" charset="0"/>
              </a:rPr>
              <a:t>cereal</a:t>
            </a:r>
            <a:r>
              <a:rPr lang="it-IT">
                <a:latin typeface="Calibri" panose="020F0502020204030204" pitchFamily="34" charset="0"/>
                <a:ea typeface="Calibri" panose="020F0502020204030204" pitchFamily="34" charset="0"/>
                <a:cs typeface="Calibri" panose="020F0502020204030204" pitchFamily="34" charset="0"/>
              </a:rPr>
              <a:t>; mix </a:t>
            </a:r>
            <a:r>
              <a:rPr lang="it-IT" err="1">
                <a:latin typeface="Calibri" panose="020F0502020204030204" pitchFamily="34" charset="0"/>
                <a:ea typeface="Calibri" panose="020F0502020204030204" pitchFamily="34" charset="0"/>
                <a:cs typeface="Calibri" panose="020F0502020204030204" pitchFamily="34" charset="0"/>
              </a:rPr>
              <a:t>well</a:t>
            </a:r>
            <a:r>
              <a:rPr lang="it-IT">
                <a:latin typeface="Calibri" panose="020F0502020204030204" pitchFamily="34" charset="0"/>
                <a:ea typeface="Calibri" panose="020F0502020204030204" pitchFamily="34" charset="0"/>
                <a:cs typeface="Calibri" panose="020F0502020204030204" pitchFamily="34" charset="0"/>
              </a:rPr>
              <a:t>."", ""Using 2 </a:t>
            </a:r>
            <a:r>
              <a:rPr lang="it-IT" err="1">
                <a:latin typeface="Calibri" panose="020F0502020204030204" pitchFamily="34" charset="0"/>
                <a:ea typeface="Calibri" panose="020F0502020204030204" pitchFamily="34" charset="0"/>
                <a:cs typeface="Calibri" panose="020F0502020204030204" pitchFamily="34" charset="0"/>
              </a:rPr>
              <a:t>teaspoons</a:t>
            </a:r>
            <a:r>
              <a:rPr lang="it-IT">
                <a:latin typeface="Calibri" panose="020F0502020204030204" pitchFamily="34" charset="0"/>
                <a:ea typeface="Calibri" panose="020F0502020204030204" pitchFamily="34" charset="0"/>
                <a:cs typeface="Calibri" panose="020F0502020204030204" pitchFamily="34" charset="0"/>
              </a:rPr>
              <a:t>, drop and </a:t>
            </a:r>
            <a:r>
              <a:rPr lang="it-IT" err="1">
                <a:latin typeface="Calibri" panose="020F0502020204030204" pitchFamily="34" charset="0"/>
                <a:ea typeface="Calibri" panose="020F0502020204030204" pitchFamily="34" charset="0"/>
                <a:cs typeface="Calibri" panose="020F0502020204030204" pitchFamily="34" charset="0"/>
              </a:rPr>
              <a:t>shape</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into</a:t>
            </a:r>
            <a:r>
              <a:rPr lang="it-IT">
                <a:latin typeface="Calibri" panose="020F0502020204030204" pitchFamily="34" charset="0"/>
                <a:ea typeface="Calibri" panose="020F0502020204030204" pitchFamily="34" charset="0"/>
                <a:cs typeface="Calibri" panose="020F0502020204030204" pitchFamily="34" charset="0"/>
              </a:rPr>
              <a:t> 30 clusters on </a:t>
            </a:r>
            <a:r>
              <a:rPr lang="it-IT" err="1">
                <a:latin typeface="Calibri" panose="020F0502020204030204" pitchFamily="34" charset="0"/>
                <a:ea typeface="Calibri" panose="020F0502020204030204" pitchFamily="34" charset="0"/>
                <a:cs typeface="Calibri" panose="020F0502020204030204" pitchFamily="34" charset="0"/>
              </a:rPr>
              <a:t>wax</a:t>
            </a:r>
            <a:r>
              <a:rPr lang="it-IT">
                <a:latin typeface="Calibri" panose="020F0502020204030204" pitchFamily="34" charset="0"/>
                <a:ea typeface="Calibri" panose="020F0502020204030204" pitchFamily="34" charset="0"/>
                <a:cs typeface="Calibri" panose="020F0502020204030204" pitchFamily="34" charset="0"/>
              </a:rPr>
              <a:t> paper."", ""</a:t>
            </a:r>
            <a:r>
              <a:rPr lang="it-IT" err="1">
                <a:latin typeface="Calibri" panose="020F0502020204030204" pitchFamily="34" charset="0"/>
                <a:ea typeface="Calibri" panose="020F0502020204030204" pitchFamily="34" charset="0"/>
                <a:cs typeface="Calibri" panose="020F0502020204030204" pitchFamily="34" charset="0"/>
              </a:rPr>
              <a:t>Let</a:t>
            </a:r>
            <a:r>
              <a:rPr lang="it-IT">
                <a:latin typeface="Calibri" panose="020F0502020204030204" pitchFamily="34" charset="0"/>
                <a:ea typeface="Calibri" panose="020F0502020204030204" pitchFamily="34" charset="0"/>
                <a:cs typeface="Calibri" panose="020F0502020204030204" pitchFamily="34" charset="0"/>
              </a:rPr>
              <a:t> stand </a:t>
            </a:r>
            <a:r>
              <a:rPr lang="it-IT" err="1">
                <a:latin typeface="Calibri" panose="020F0502020204030204" pitchFamily="34" charset="0"/>
                <a:ea typeface="Calibri" panose="020F0502020204030204" pitchFamily="34" charset="0"/>
                <a:cs typeface="Calibri" panose="020F0502020204030204" pitchFamily="34" charset="0"/>
              </a:rPr>
              <a:t>until</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firm</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about</a:t>
            </a:r>
            <a:r>
              <a:rPr lang="it-IT">
                <a:latin typeface="Calibri" panose="020F0502020204030204" pitchFamily="34" charset="0"/>
                <a:ea typeface="Calibri" panose="020F0502020204030204" pitchFamily="34" charset="0"/>
                <a:cs typeface="Calibri" panose="020F0502020204030204" pitchFamily="34" charset="0"/>
              </a:rPr>
              <a:t> 30 minutes.""]",www.cookbooks.com/</a:t>
            </a:r>
            <a:r>
              <a:rPr lang="it-IT" err="1">
                <a:latin typeface="Calibri" panose="020F0502020204030204" pitchFamily="34" charset="0"/>
                <a:ea typeface="Calibri" panose="020F0502020204030204" pitchFamily="34" charset="0"/>
                <a:cs typeface="Calibri" panose="020F0502020204030204" pitchFamily="34" charset="0"/>
              </a:rPr>
              <a:t>Recipe-Details.aspx?id</a:t>
            </a:r>
            <a:r>
              <a:rPr lang="it-IT">
                <a:latin typeface="Calibri" panose="020F0502020204030204" pitchFamily="34" charset="0"/>
                <a:ea typeface="Calibri" panose="020F0502020204030204" pitchFamily="34" charset="0"/>
                <a:cs typeface="Calibri" panose="020F0502020204030204" pitchFamily="34" charset="0"/>
              </a:rPr>
              <a:t>=44874,Gathered,"[""</a:t>
            </a:r>
            <a:r>
              <a:rPr lang="it-IT" err="1">
                <a:latin typeface="Calibri" panose="020F0502020204030204" pitchFamily="34" charset="0"/>
                <a:ea typeface="Calibri" panose="020F0502020204030204" pitchFamily="34" charset="0"/>
                <a:cs typeface="Calibri" panose="020F0502020204030204" pitchFamily="34" charset="0"/>
              </a:rPr>
              <a:t>brown</a:t>
            </a:r>
            <a:r>
              <a:rPr lang="it-IT">
                <a:latin typeface="Calibri" panose="020F0502020204030204" pitchFamily="34" charset="0"/>
                <a:ea typeface="Calibri" panose="020F0502020204030204" pitchFamily="34" charset="0"/>
                <a:cs typeface="Calibri" panose="020F0502020204030204" pitchFamily="34" charset="0"/>
              </a:rPr>
              <a:t> sugar"", ""</a:t>
            </a:r>
            <a:r>
              <a:rPr lang="it-IT" err="1">
                <a:latin typeface="Calibri" panose="020F0502020204030204" pitchFamily="34" charset="0"/>
                <a:ea typeface="Calibri" panose="020F0502020204030204" pitchFamily="34" charset="0"/>
                <a:cs typeface="Calibri" panose="020F0502020204030204" pitchFamily="34" charset="0"/>
              </a:rPr>
              <a:t>milk</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vanilla</a:t>
            </a:r>
            <a:r>
              <a:rPr lang="it-IT">
                <a:latin typeface="Calibri" panose="020F0502020204030204" pitchFamily="34" charset="0"/>
                <a:ea typeface="Calibri" panose="020F0502020204030204" pitchFamily="34" charset="0"/>
                <a:cs typeface="Calibri" panose="020F0502020204030204" pitchFamily="34" charset="0"/>
              </a:rPr>
              <a:t>"", ""nuts"", ""</a:t>
            </a:r>
            <a:r>
              <a:rPr lang="it-IT" err="1">
                <a:latin typeface="Calibri" panose="020F0502020204030204" pitchFamily="34" charset="0"/>
                <a:ea typeface="Calibri" panose="020F0502020204030204" pitchFamily="34" charset="0"/>
                <a:cs typeface="Calibri" panose="020F0502020204030204" pitchFamily="34" charset="0"/>
              </a:rPr>
              <a:t>butter</a:t>
            </a:r>
            <a:r>
              <a:rPr lang="it-IT">
                <a:latin typeface="Calibri" panose="020F0502020204030204" pitchFamily="34" charset="0"/>
                <a:ea typeface="Calibri" panose="020F0502020204030204" pitchFamily="34" charset="0"/>
                <a:cs typeface="Calibri" panose="020F0502020204030204" pitchFamily="34" charset="0"/>
              </a:rPr>
              <a:t>"", ""bite size </a:t>
            </a:r>
            <a:r>
              <a:rPr lang="it-IT" err="1">
                <a:latin typeface="Calibri" panose="020F0502020204030204" pitchFamily="34" charset="0"/>
                <a:ea typeface="Calibri" panose="020F0502020204030204" pitchFamily="34" charset="0"/>
                <a:cs typeface="Calibri" panose="020F0502020204030204" pitchFamily="34" charset="0"/>
              </a:rPr>
              <a:t>shredded</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rice</a:t>
            </a:r>
            <a:r>
              <a:rPr lang="it-IT">
                <a:latin typeface="Calibri" panose="020F0502020204030204" pitchFamily="34" charset="0"/>
                <a:ea typeface="Calibri" panose="020F0502020204030204" pitchFamily="34" charset="0"/>
                <a:cs typeface="Calibri" panose="020F0502020204030204" pitchFamily="34" charset="0"/>
              </a:rPr>
              <a:t> biscuits""]"</a:t>
            </a:r>
          </a:p>
          <a:p>
            <a:pPr marL="342900" indent="-342900">
              <a:spcBef>
                <a:spcPts val="875"/>
              </a:spcBef>
              <a:buFont typeface="Arial" panose="020B0604020202020204" pitchFamily="34" charset="0"/>
              <a:buChar char="•"/>
            </a:pPr>
            <a:endParaRPr lang="it-IT" sz="2000">
              <a:latin typeface="Calibri" charset="0"/>
              <a:ea typeface="Calibri" charset="0"/>
              <a:cs typeface="Calibri" charset="0"/>
            </a:endParaRPr>
          </a:p>
        </p:txBody>
      </p:sp>
      <p:cxnSp>
        <p:nvCxnSpPr>
          <p:cNvPr id="11" name="Connettore diritto 10">
            <a:extLst>
              <a:ext uri="{FF2B5EF4-FFF2-40B4-BE49-F238E27FC236}">
                <a16:creationId xmlns:a16="http://schemas.microsoft.com/office/drawing/2014/main" id="{5EAA1DD2-9DF0-3231-7484-ECF1121F486B}"/>
              </a:ext>
            </a:extLst>
          </p:cNvPr>
          <p:cNvCxnSpPr>
            <a:cxnSpLocks/>
          </p:cNvCxnSpPr>
          <p:nvPr/>
        </p:nvCxnSpPr>
        <p:spPr>
          <a:xfrm>
            <a:off x="0" y="4551376"/>
            <a:ext cx="1219200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25579432"/>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409C3-9F40-CFFD-2063-679F32B16278}"/>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015B1526-5C1D-EA55-67D9-80B4D897230B}"/>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652A5055-B553-A0A3-7C0A-76683A548D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AFF6226D-B8EF-BC35-307D-72D773EC9C45}"/>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6" name="Text Box 2">
            <a:extLst>
              <a:ext uri="{FF2B5EF4-FFF2-40B4-BE49-F238E27FC236}">
                <a16:creationId xmlns:a16="http://schemas.microsoft.com/office/drawing/2014/main" id="{365597C8-0C8E-2402-D46F-C80149995656}"/>
              </a:ext>
            </a:extLst>
          </p:cNvPr>
          <p:cNvSpPr txBox="1">
            <a:spLocks noChangeArrowheads="1"/>
          </p:cNvSpPr>
          <p:nvPr/>
        </p:nvSpPr>
        <p:spPr bwMode="auto">
          <a:xfrm>
            <a:off x="0" y="1038405"/>
            <a:ext cx="12192000" cy="378783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pPr>
              <a:spcBef>
                <a:spcPts val="875"/>
              </a:spcBef>
            </a:pPr>
            <a:r>
              <a:rPr lang="it-IT">
                <a:latin typeface="Calibri" panose="020F0502020204030204" pitchFamily="34" charset="0"/>
                <a:ea typeface="Calibri" panose="020F0502020204030204" pitchFamily="34" charset="0"/>
                <a:cs typeface="Calibri" panose="020F0502020204030204" pitchFamily="34" charset="0"/>
              </a:rPr>
              <a:t>A partire da </a:t>
            </a:r>
            <a:r>
              <a:rPr lang="it-IT" err="1">
                <a:latin typeface="Calibri" panose="020F0502020204030204" pitchFamily="34" charset="0"/>
                <a:ea typeface="Calibri" panose="020F0502020204030204" pitchFamily="34" charset="0"/>
                <a:cs typeface="Calibri" panose="020F0502020204030204" pitchFamily="34" charset="0"/>
              </a:rPr>
              <a:t>RecipeNLG</a:t>
            </a:r>
            <a:r>
              <a:rPr lang="it-IT">
                <a:latin typeface="Calibri" panose="020F0502020204030204" pitchFamily="34" charset="0"/>
                <a:ea typeface="Calibri" panose="020F0502020204030204" pitchFamily="34" charset="0"/>
                <a:cs typeface="Calibri" panose="020F0502020204030204" pitchFamily="34" charset="0"/>
              </a:rPr>
              <a:t> sono stati creati 3 dataset:</a:t>
            </a:r>
          </a:p>
          <a:p>
            <a:pPr>
              <a:spcBef>
                <a:spcPts val="875"/>
              </a:spcBef>
            </a:pPr>
            <a:endParaRPr lang="it-IT">
              <a:latin typeface="Calibri" panose="020F0502020204030204" pitchFamily="34" charset="0"/>
              <a:ea typeface="Calibri" panose="020F0502020204030204" pitchFamily="34" charset="0"/>
              <a:cs typeface="Calibri" panose="020F0502020204030204" pitchFamily="34" charset="0"/>
            </a:endParaRPr>
          </a:p>
          <a:p>
            <a:pPr>
              <a:spcBef>
                <a:spcPts val="875"/>
              </a:spcBef>
            </a:pPr>
            <a:r>
              <a:rPr lang="it-IT" b="1">
                <a:latin typeface="Calibri" panose="020F0502020204030204" pitchFamily="34" charset="0"/>
                <a:ea typeface="Calibri" panose="020F0502020204030204" pitchFamily="34" charset="0"/>
                <a:cs typeface="Calibri" panose="020F0502020204030204" pitchFamily="34" charset="0"/>
              </a:rPr>
              <a:t>D1, dataset strutturato: </a:t>
            </a:r>
            <a:r>
              <a:rPr lang="it-IT">
                <a:latin typeface="Calibri" panose="020F0502020204030204" pitchFamily="34" charset="0"/>
                <a:ea typeface="Calibri" panose="020F0502020204030204" pitchFamily="34" charset="0"/>
                <a:cs typeface="Calibri" panose="020F0502020204030204" pitchFamily="34" charset="0"/>
              </a:rPr>
              <a:t>Insieme ristretto di 1000 elementi costruiti con ID, TITLE, INGREDIENTS e DIRECTIONS</a:t>
            </a:r>
          </a:p>
          <a:p>
            <a:pPr>
              <a:spcBef>
                <a:spcPts val="875"/>
              </a:spcBef>
            </a:pPr>
            <a:endParaRPr lang="it-IT" b="1">
              <a:latin typeface="Calibri" panose="020F0502020204030204" pitchFamily="34" charset="0"/>
              <a:ea typeface="Calibri" panose="020F0502020204030204" pitchFamily="34" charset="0"/>
              <a:cs typeface="Calibri" panose="020F0502020204030204" pitchFamily="34" charset="0"/>
            </a:endParaRPr>
          </a:p>
          <a:p>
            <a:pPr>
              <a:spcBef>
                <a:spcPts val="875"/>
              </a:spcBef>
            </a:pPr>
            <a:endParaRPr lang="it-IT" b="1">
              <a:latin typeface="Calibri" panose="020F0502020204030204" pitchFamily="34" charset="0"/>
              <a:ea typeface="Calibri" panose="020F0502020204030204" pitchFamily="34" charset="0"/>
              <a:cs typeface="Calibri" panose="020F0502020204030204" pitchFamily="34" charset="0"/>
            </a:endParaRPr>
          </a:p>
          <a:p>
            <a:pPr>
              <a:spcBef>
                <a:spcPts val="875"/>
              </a:spcBef>
            </a:pPr>
            <a:r>
              <a:rPr lang="it-IT" b="1">
                <a:latin typeface="Calibri" panose="020F0502020204030204" pitchFamily="34" charset="0"/>
                <a:ea typeface="Calibri" panose="020F0502020204030204" pitchFamily="34" charset="0"/>
                <a:cs typeface="Calibri" panose="020F0502020204030204" pitchFamily="34" charset="0"/>
              </a:rPr>
              <a:t>D2, dataset testuale: </a:t>
            </a:r>
            <a:r>
              <a:rPr lang="it-IT">
                <a:latin typeface="Calibri" panose="020F0502020204030204" pitchFamily="34" charset="0"/>
                <a:ea typeface="Calibri" panose="020F0502020204030204" pitchFamily="34" charset="0"/>
                <a:cs typeface="Calibri" panose="020F0502020204030204" pitchFamily="34" charset="0"/>
              </a:rPr>
              <a:t>Ogni ricetta del dataset D1 è stata riscritta in inglese in formato testuale libero, simulando un input in linguaggio naturale.</a:t>
            </a:r>
          </a:p>
          <a:p>
            <a:pPr>
              <a:spcBef>
                <a:spcPts val="875"/>
              </a:spcBef>
            </a:pPr>
            <a:endParaRPr lang="it-IT">
              <a:latin typeface="Calibri" panose="020F0502020204030204" pitchFamily="34" charset="0"/>
              <a:ea typeface="Calibri" panose="020F0502020204030204" pitchFamily="34" charset="0"/>
              <a:cs typeface="Calibri" panose="020F0502020204030204" pitchFamily="34" charset="0"/>
            </a:endParaRPr>
          </a:p>
          <a:p>
            <a:pPr>
              <a:spcBef>
                <a:spcPts val="875"/>
              </a:spcBef>
            </a:pPr>
            <a:endParaRPr lang="it-IT">
              <a:latin typeface="Calibri" panose="020F0502020204030204" pitchFamily="34" charset="0"/>
              <a:ea typeface="Calibri" panose="020F0502020204030204" pitchFamily="34" charset="0"/>
              <a:cs typeface="Calibri" panose="020F0502020204030204" pitchFamily="34" charset="0"/>
            </a:endParaRPr>
          </a:p>
          <a:p>
            <a:pPr>
              <a:spcBef>
                <a:spcPts val="875"/>
              </a:spcBef>
            </a:pPr>
            <a:r>
              <a:rPr lang="it-IT" b="1">
                <a:latin typeface="Calibri" panose="020F0502020204030204" pitchFamily="34" charset="0"/>
                <a:ea typeface="Calibri" panose="020F0502020204030204" pitchFamily="34" charset="0"/>
                <a:cs typeface="Calibri" panose="020F0502020204030204" pitchFamily="34" charset="0"/>
              </a:rPr>
              <a:t>D3, dataset accoppiato: </a:t>
            </a:r>
            <a:r>
              <a:rPr lang="en-US">
                <a:latin typeface="Calibri" panose="020F0502020204030204" pitchFamily="34" charset="0"/>
                <a:ea typeface="Calibri" panose="020F0502020204030204" pitchFamily="34" charset="0"/>
                <a:cs typeface="Calibri" panose="020F0502020204030204" pitchFamily="34" charset="0"/>
              </a:rPr>
              <a:t>Supervised fine-tuning: input = </a:t>
            </a:r>
            <a:r>
              <a:rPr lang="en-US" err="1">
                <a:latin typeface="Calibri" panose="020F0502020204030204" pitchFamily="34" charset="0"/>
                <a:ea typeface="Calibri" panose="020F0502020204030204" pitchFamily="34" charset="0"/>
                <a:cs typeface="Calibri" panose="020F0502020204030204" pitchFamily="34" charset="0"/>
              </a:rPr>
              <a:t>ricetta</a:t>
            </a:r>
            <a:r>
              <a:rPr lang="en-US">
                <a:latin typeface="Calibri" panose="020F0502020204030204" pitchFamily="34" charset="0"/>
                <a:ea typeface="Calibri" panose="020F0502020204030204" pitchFamily="34" charset="0"/>
                <a:cs typeface="Calibri" panose="020F0502020204030204" pitchFamily="34" charset="0"/>
              </a:rPr>
              <a:t> </a:t>
            </a:r>
            <a:r>
              <a:rPr lang="en-US" err="1">
                <a:latin typeface="Calibri" panose="020F0502020204030204" pitchFamily="34" charset="0"/>
                <a:ea typeface="Calibri" panose="020F0502020204030204" pitchFamily="34" charset="0"/>
                <a:cs typeface="Calibri" panose="020F0502020204030204" pitchFamily="34" charset="0"/>
              </a:rPr>
              <a:t>testuale</a:t>
            </a:r>
            <a:r>
              <a:rPr lang="en-US">
                <a:latin typeface="Calibri" panose="020F0502020204030204" pitchFamily="34" charset="0"/>
                <a:ea typeface="Calibri" panose="020F0502020204030204" pitchFamily="34" charset="0"/>
                <a:cs typeface="Calibri" panose="020F0502020204030204" pitchFamily="34" charset="0"/>
              </a:rPr>
              <a:t> (D2) → output = JSON </a:t>
            </a:r>
            <a:r>
              <a:rPr lang="en-US" err="1">
                <a:latin typeface="Calibri" panose="020F0502020204030204" pitchFamily="34" charset="0"/>
                <a:ea typeface="Calibri" panose="020F0502020204030204" pitchFamily="34" charset="0"/>
                <a:cs typeface="Calibri" panose="020F0502020204030204" pitchFamily="34" charset="0"/>
              </a:rPr>
              <a:t>strutturato</a:t>
            </a:r>
            <a:r>
              <a:rPr lang="en-US">
                <a:latin typeface="Calibri" panose="020F0502020204030204" pitchFamily="34" charset="0"/>
                <a:ea typeface="Calibri" panose="020F0502020204030204" pitchFamily="34" charset="0"/>
                <a:cs typeface="Calibri" panose="020F0502020204030204" pitchFamily="34" charset="0"/>
              </a:rPr>
              <a:t> (id, title, directions)</a:t>
            </a:r>
            <a:endParaRPr lang="it-IT" b="1">
              <a:latin typeface="Calibri" panose="020F0502020204030204" pitchFamily="34" charset="0"/>
              <a:ea typeface="Calibri" panose="020F0502020204030204" pitchFamily="34" charset="0"/>
              <a:cs typeface="Calibri" panose="020F0502020204030204" pitchFamily="34" charset="0"/>
            </a:endParaRPr>
          </a:p>
        </p:txBody>
      </p:sp>
      <p:sp>
        <p:nvSpPr>
          <p:cNvPr id="10" name="Rettangolo 9">
            <a:extLst>
              <a:ext uri="{FF2B5EF4-FFF2-40B4-BE49-F238E27FC236}">
                <a16:creationId xmlns:a16="http://schemas.microsoft.com/office/drawing/2014/main" id="{E8900A7A-76AC-9B87-A3D7-6C799D4E15A4}"/>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pic>
        <p:nvPicPr>
          <p:cNvPr id="12" name="Immagine 11">
            <a:extLst>
              <a:ext uri="{FF2B5EF4-FFF2-40B4-BE49-F238E27FC236}">
                <a16:creationId xmlns:a16="http://schemas.microsoft.com/office/drawing/2014/main" id="{2CB8C98E-8876-C995-6986-4FCFD55EDA61}"/>
              </a:ext>
            </a:extLst>
          </p:cNvPr>
          <p:cNvPicPr>
            <a:picLocks noChangeAspect="1"/>
          </p:cNvPicPr>
          <p:nvPr/>
        </p:nvPicPr>
        <p:blipFill>
          <a:blip r:embed="rId4"/>
          <a:stretch>
            <a:fillRect/>
          </a:stretch>
        </p:blipFill>
        <p:spPr>
          <a:xfrm>
            <a:off x="0" y="4826238"/>
            <a:ext cx="12192000" cy="938443"/>
          </a:xfrm>
          <a:prstGeom prst="rect">
            <a:avLst/>
          </a:prstGeom>
        </p:spPr>
      </p:pic>
      <p:pic>
        <p:nvPicPr>
          <p:cNvPr id="16" name="Immagine 15">
            <a:extLst>
              <a:ext uri="{FF2B5EF4-FFF2-40B4-BE49-F238E27FC236}">
                <a16:creationId xmlns:a16="http://schemas.microsoft.com/office/drawing/2014/main" id="{E79D382B-9D50-EDEA-0E7C-3CCB3E1B1B5D}"/>
              </a:ext>
            </a:extLst>
          </p:cNvPr>
          <p:cNvPicPr>
            <a:picLocks noChangeAspect="1"/>
          </p:cNvPicPr>
          <p:nvPr/>
        </p:nvPicPr>
        <p:blipFill>
          <a:blip r:embed="rId5"/>
          <a:stretch>
            <a:fillRect/>
          </a:stretch>
        </p:blipFill>
        <p:spPr>
          <a:xfrm>
            <a:off x="0" y="2221203"/>
            <a:ext cx="12192000" cy="227271"/>
          </a:xfrm>
          <a:prstGeom prst="rect">
            <a:avLst/>
          </a:prstGeom>
        </p:spPr>
      </p:pic>
      <p:pic>
        <p:nvPicPr>
          <p:cNvPr id="18" name="Immagine 17">
            <a:extLst>
              <a:ext uri="{FF2B5EF4-FFF2-40B4-BE49-F238E27FC236}">
                <a16:creationId xmlns:a16="http://schemas.microsoft.com/office/drawing/2014/main" id="{00518BE9-7B95-A777-653D-3E8B2584103C}"/>
              </a:ext>
            </a:extLst>
          </p:cNvPr>
          <p:cNvPicPr>
            <a:picLocks noChangeAspect="1"/>
          </p:cNvPicPr>
          <p:nvPr/>
        </p:nvPicPr>
        <p:blipFill>
          <a:blip r:embed="rId6"/>
          <a:stretch>
            <a:fillRect/>
          </a:stretch>
        </p:blipFill>
        <p:spPr>
          <a:xfrm>
            <a:off x="0" y="2470142"/>
            <a:ext cx="12192000" cy="161095"/>
          </a:xfrm>
          <a:prstGeom prst="rect">
            <a:avLst/>
          </a:prstGeom>
        </p:spPr>
      </p:pic>
      <p:pic>
        <p:nvPicPr>
          <p:cNvPr id="20" name="Immagine 19">
            <a:extLst>
              <a:ext uri="{FF2B5EF4-FFF2-40B4-BE49-F238E27FC236}">
                <a16:creationId xmlns:a16="http://schemas.microsoft.com/office/drawing/2014/main" id="{4B20A193-24D8-845F-F5A6-A6515DA13676}"/>
              </a:ext>
            </a:extLst>
          </p:cNvPr>
          <p:cNvPicPr>
            <a:picLocks noChangeAspect="1"/>
          </p:cNvPicPr>
          <p:nvPr/>
        </p:nvPicPr>
        <p:blipFill>
          <a:blip r:embed="rId7"/>
          <a:stretch>
            <a:fillRect/>
          </a:stretch>
        </p:blipFill>
        <p:spPr>
          <a:xfrm>
            <a:off x="0" y="3631272"/>
            <a:ext cx="12192000" cy="478629"/>
          </a:xfrm>
          <a:prstGeom prst="rect">
            <a:avLst/>
          </a:prstGeom>
        </p:spPr>
      </p:pic>
    </p:spTree>
    <p:extLst>
      <p:ext uri="{BB962C8B-B14F-4D97-AF65-F5344CB8AC3E}">
        <p14:creationId xmlns:p14="http://schemas.microsoft.com/office/powerpoint/2010/main" val="70271478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0DCB7-A0AF-B1C0-DCA4-9C00B9CBDD7B}"/>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2AA7A056-1D8F-C5A4-A76E-3D50C9D387DF}"/>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39729837-A62A-82C1-467B-82DF7D522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C63C0027-3875-19BB-F26F-613F35EDF4F4}"/>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6" name="Text Box 2">
            <a:extLst>
              <a:ext uri="{FF2B5EF4-FFF2-40B4-BE49-F238E27FC236}">
                <a16:creationId xmlns:a16="http://schemas.microsoft.com/office/drawing/2014/main" id="{BD9AAFF8-4ACE-5088-A657-10CBDC38DB70}"/>
              </a:ext>
            </a:extLst>
          </p:cNvPr>
          <p:cNvSpPr txBox="1">
            <a:spLocks noChangeArrowheads="1"/>
          </p:cNvSpPr>
          <p:nvPr/>
        </p:nvSpPr>
        <p:spPr bwMode="auto">
          <a:xfrm>
            <a:off x="0" y="745754"/>
            <a:ext cx="12192000" cy="584224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pPr>
              <a:spcBef>
                <a:spcPts val="875"/>
              </a:spcBef>
            </a:pPr>
            <a:r>
              <a:rPr lang="it-IT" b="1">
                <a:solidFill>
                  <a:srgbClr val="FF0000"/>
                </a:solidFill>
                <a:latin typeface="Calibri" panose="020F0502020204030204" pitchFamily="34" charset="0"/>
                <a:ea typeface="Calibri" panose="020F0502020204030204" pitchFamily="34" charset="0"/>
                <a:cs typeface="Calibri" panose="020F0502020204030204" pitchFamily="34" charset="0"/>
              </a:rPr>
              <a:t>SLM &amp; LLM</a:t>
            </a:r>
          </a:p>
          <a:p>
            <a:pPr>
              <a:spcBef>
                <a:spcPts val="875"/>
              </a:spcBef>
            </a:pPr>
            <a:r>
              <a:rPr lang="it-IT" b="1">
                <a:latin typeface="Calibri" panose="020F0502020204030204" pitchFamily="34" charset="0"/>
                <a:ea typeface="Calibri" panose="020F0502020204030204" pitchFamily="34" charset="0"/>
                <a:cs typeface="Calibri" panose="020F0502020204030204" pitchFamily="34" charset="0"/>
              </a:rPr>
              <a:t>SLM (Small Language Model): </a:t>
            </a:r>
            <a:r>
              <a:rPr lang="it-IT">
                <a:latin typeface="Calibri" panose="020F0502020204030204" pitchFamily="34" charset="0"/>
                <a:ea typeface="Calibri" panose="020F0502020204030204" pitchFamily="34" charset="0"/>
                <a:cs typeface="Calibri" panose="020F0502020204030204" pitchFamily="34" charset="0"/>
              </a:rPr>
              <a:t>modello di linguaggio di dimensioni ridotte, progettato per comprendere e generare testo con meno risorse computazionali rispetto ai grandi modelli linguistici (LLM), spesso usato su dispositivi locali o in applicazioni con vincoli di memoria e velocità.</a:t>
            </a:r>
          </a:p>
          <a:p>
            <a:pPr>
              <a:spcBef>
                <a:spcPts val="875"/>
              </a:spcBef>
            </a:pPr>
            <a:r>
              <a:rPr lang="it-IT">
                <a:latin typeface="Calibri" panose="020F0502020204030204" pitchFamily="34" charset="0"/>
                <a:ea typeface="Calibri" panose="020F0502020204030204" pitchFamily="34" charset="0"/>
                <a:cs typeface="Calibri" panose="020F0502020204030204" pitchFamily="34" charset="0"/>
              </a:rPr>
              <a:t>Nel progetto:</a:t>
            </a:r>
          </a:p>
          <a:p>
            <a:pPr marL="342900" indent="-342900">
              <a:spcBef>
                <a:spcPts val="875"/>
              </a:spcBef>
              <a:buFont typeface="+mj-lt"/>
              <a:buAutoNum type="arabicPeriod"/>
            </a:pPr>
            <a:r>
              <a:rPr lang="it-IT" b="1">
                <a:latin typeface="Calibri" panose="020F0502020204030204" pitchFamily="34" charset="0"/>
                <a:ea typeface="Calibri" panose="020F0502020204030204" pitchFamily="34" charset="0"/>
                <a:cs typeface="Calibri" panose="020F0502020204030204" pitchFamily="34" charset="0"/>
              </a:rPr>
              <a:t>Qwen2.5</a:t>
            </a:r>
            <a:r>
              <a:rPr lang="it-IT">
                <a:latin typeface="Calibri" panose="020F0502020204030204" pitchFamily="34" charset="0"/>
                <a:ea typeface="Calibri" panose="020F0502020204030204" pitchFamily="34" charset="0"/>
                <a:cs typeface="Calibri" panose="020F0502020204030204" pitchFamily="34" charset="0"/>
              </a:rPr>
              <a:t>: Ottimizzato per l'</a:t>
            </a:r>
            <a:r>
              <a:rPr lang="it-IT" err="1">
                <a:latin typeface="Calibri" panose="020F0502020204030204" pitchFamily="34" charset="0"/>
                <a:ea typeface="Calibri" panose="020F0502020204030204" pitchFamily="34" charset="0"/>
                <a:cs typeface="Calibri" panose="020F0502020204030204" pitchFamily="34" charset="0"/>
              </a:rPr>
              <a:t>instruction</a:t>
            </a:r>
            <a:r>
              <a:rPr lang="it-IT">
                <a:latin typeface="Calibri" panose="020F0502020204030204" pitchFamily="34" charset="0"/>
                <a:ea typeface="Calibri" panose="020F0502020204030204" pitchFamily="34" charset="0"/>
                <a:cs typeface="Calibri" panose="020F0502020204030204" pitchFamily="34" charset="0"/>
              </a:rPr>
              <a:t>-following, output strutturati (ad esempio, JSON, tabelle), la codifica e la risoluzione di problemi matematici, utilizza 1.5B di parametri</a:t>
            </a:r>
          </a:p>
          <a:p>
            <a:pPr marL="342900" indent="-342900">
              <a:spcBef>
                <a:spcPts val="875"/>
              </a:spcBef>
              <a:buFont typeface="+mj-lt"/>
              <a:buAutoNum type="arabicPeriod"/>
            </a:pPr>
            <a:r>
              <a:rPr lang="it-IT" b="1">
                <a:latin typeface="Calibri" panose="020F0502020204030204" pitchFamily="34" charset="0"/>
                <a:ea typeface="Calibri" panose="020F0502020204030204" pitchFamily="34" charset="0"/>
                <a:cs typeface="Calibri" panose="020F0502020204030204" pitchFamily="34" charset="0"/>
              </a:rPr>
              <a:t>Phi3.3</a:t>
            </a:r>
            <a:r>
              <a:rPr lang="it-IT">
                <a:latin typeface="Calibri" panose="020F0502020204030204" pitchFamily="34" charset="0"/>
                <a:ea typeface="Calibri" panose="020F0502020204030204" pitchFamily="34" charset="0"/>
                <a:cs typeface="Calibri" panose="020F0502020204030204" pitchFamily="34" charset="0"/>
              </a:rPr>
              <a:t>: modello di linguaggio con 3.5B evoluto di OpenAI: testo naturale di alta qualità, migliore comprensione e ragionamento rispetto alle versioni precedenti.</a:t>
            </a:r>
          </a:p>
          <a:p>
            <a:pPr marL="342900" indent="-342900">
              <a:spcBef>
                <a:spcPts val="875"/>
              </a:spcBef>
              <a:buFont typeface="+mj-lt"/>
              <a:buAutoNum type="arabicPeriod"/>
            </a:pPr>
            <a:r>
              <a:rPr lang="it-IT" b="1">
                <a:latin typeface="Calibri" panose="020F0502020204030204" pitchFamily="34" charset="0"/>
                <a:ea typeface="Calibri" panose="020F0502020204030204" pitchFamily="34" charset="0"/>
                <a:cs typeface="Calibri" panose="020F0502020204030204" pitchFamily="34" charset="0"/>
              </a:rPr>
              <a:t>Mistral</a:t>
            </a:r>
            <a:r>
              <a:rPr lang="it-IT">
                <a:latin typeface="Calibri" panose="020F0502020204030204" pitchFamily="34" charset="0"/>
                <a:ea typeface="Calibri" panose="020F0502020204030204" pitchFamily="34" charset="0"/>
                <a:cs typeface="Calibri" panose="020F0502020204030204" pitchFamily="34" charset="0"/>
              </a:rPr>
              <a:t>: modello di linguaggio da 7 miliardi di parametri: testo naturale accurato, efficiente e performante per una vasta gamma di compiti linguistici.</a:t>
            </a:r>
          </a:p>
          <a:p>
            <a:pPr marL="342900" indent="-342900">
              <a:spcBef>
                <a:spcPts val="875"/>
              </a:spcBef>
              <a:buFont typeface="+mj-lt"/>
              <a:buAutoNum type="arabicPeriod"/>
            </a:pPr>
            <a:endParaRPr lang="it-IT">
              <a:latin typeface="Calibri" panose="020F0502020204030204" pitchFamily="34" charset="0"/>
              <a:ea typeface="Calibri" panose="020F0502020204030204" pitchFamily="34" charset="0"/>
              <a:cs typeface="Calibri" panose="020F0502020204030204" pitchFamily="34" charset="0"/>
            </a:endParaRPr>
          </a:p>
          <a:p>
            <a:pPr>
              <a:spcBef>
                <a:spcPts val="875"/>
              </a:spcBef>
            </a:pPr>
            <a:r>
              <a:rPr lang="it-IT" b="1">
                <a:latin typeface="Calibri" panose="020F0502020204030204" pitchFamily="34" charset="0"/>
                <a:ea typeface="Calibri" panose="020F0502020204030204" pitchFamily="34" charset="0"/>
                <a:cs typeface="Calibri" panose="020F0502020204030204" pitchFamily="34" charset="0"/>
              </a:rPr>
              <a:t>LLM (Large Language Model):</a:t>
            </a:r>
            <a:r>
              <a:rPr lang="it-IT">
                <a:latin typeface="Calibri" panose="020F0502020204030204" pitchFamily="34" charset="0"/>
                <a:ea typeface="Calibri" panose="020F0502020204030204" pitchFamily="34" charset="0"/>
                <a:cs typeface="Calibri" panose="020F0502020204030204" pitchFamily="34" charset="0"/>
              </a:rPr>
              <a:t>modello di intelligenza artificiale addestrato su enormi quantità di dati testuali, in grado di comprendere il linguaggio naturale, generare testi coerenti e svolgere diversi compiti linguistici come rispondere a domande, riassumere documenti, tradurre testi e supportare interazioni uomo-macchina.</a:t>
            </a:r>
          </a:p>
          <a:p>
            <a:pPr>
              <a:spcBef>
                <a:spcPts val="875"/>
              </a:spcBef>
            </a:pPr>
            <a:r>
              <a:rPr lang="it-IT">
                <a:latin typeface="Calibri" panose="020F0502020204030204" pitchFamily="34" charset="0"/>
                <a:ea typeface="Calibri" panose="020F0502020204030204" pitchFamily="34" charset="0"/>
                <a:cs typeface="Calibri" panose="020F0502020204030204" pitchFamily="34" charset="0"/>
              </a:rPr>
              <a:t>Nel progetto:</a:t>
            </a:r>
          </a:p>
          <a:p>
            <a:pPr marL="285750" indent="-285750">
              <a:spcBef>
                <a:spcPts val="875"/>
              </a:spcBef>
              <a:buFont typeface="Arial" panose="020B0604020202020204" pitchFamily="34" charset="0"/>
              <a:buChar char="•"/>
            </a:pPr>
            <a:r>
              <a:rPr lang="it-IT" b="1" err="1">
                <a:latin typeface="Calibri" panose="020F0502020204030204" pitchFamily="34" charset="0"/>
                <a:ea typeface="Calibri" panose="020F0502020204030204" pitchFamily="34" charset="0"/>
                <a:cs typeface="Calibri" panose="020F0502020204030204" pitchFamily="34" charset="0"/>
              </a:rPr>
              <a:t>Llama</a:t>
            </a:r>
            <a:r>
              <a:rPr lang="it-IT" b="1">
                <a:latin typeface="Calibri" panose="020F0502020204030204" pitchFamily="34" charset="0"/>
                <a:ea typeface="Calibri" panose="020F0502020204030204" pitchFamily="34" charset="0"/>
                <a:cs typeface="Calibri" panose="020F0502020204030204" pitchFamily="34" charset="0"/>
              </a:rPr>
              <a:t> 3.3</a:t>
            </a:r>
            <a:r>
              <a:rPr lang="it-IT">
                <a:latin typeface="Calibri" panose="020F0502020204030204" pitchFamily="34" charset="0"/>
                <a:ea typeface="Calibri" panose="020F0502020204030204" pitchFamily="34" charset="0"/>
                <a:cs typeface="Calibri" panose="020F0502020204030204" pitchFamily="34" charset="0"/>
              </a:rPr>
              <a:t>: modello linguistico di Meta con 70B miliardi di parametri, potente e adatto a compiti complessi di NLP.</a:t>
            </a:r>
            <a:endParaRPr lang="it-IT" b="1">
              <a:latin typeface="Calibri" panose="020F0502020204030204" pitchFamily="34" charset="0"/>
              <a:ea typeface="Calibri" panose="020F0502020204030204" pitchFamily="34" charset="0"/>
              <a:cs typeface="Calibri" panose="020F0502020204030204" pitchFamily="34" charset="0"/>
            </a:endParaRPr>
          </a:p>
        </p:txBody>
      </p:sp>
      <p:sp>
        <p:nvSpPr>
          <p:cNvPr id="10" name="Rettangolo 9">
            <a:extLst>
              <a:ext uri="{FF2B5EF4-FFF2-40B4-BE49-F238E27FC236}">
                <a16:creationId xmlns:a16="http://schemas.microsoft.com/office/drawing/2014/main" id="{0FC2BD2C-756A-99ED-B732-F8A38EE2BEB0}"/>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Tree>
    <p:extLst>
      <p:ext uri="{BB962C8B-B14F-4D97-AF65-F5344CB8AC3E}">
        <p14:creationId xmlns:p14="http://schemas.microsoft.com/office/powerpoint/2010/main" val="343268869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7EBD-31BE-B41D-033F-DF98508AE7F5}"/>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0689AAFE-8AF8-3E4F-E775-7F0FFD8C7BCE}"/>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57C2FA98-9921-178C-2E8A-5D9E01CFBB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050684FF-0258-B5C2-8363-1702D5F06437}"/>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mc:AlternateContent xmlns:mc="http://schemas.openxmlformats.org/markup-compatibility/2006">
        <mc:Choice xmlns:a14="http://schemas.microsoft.com/office/drawing/2010/main" Requires="a14">
          <p:sp>
            <p:nvSpPr>
              <p:cNvPr id="6" name="Text Box 2">
                <a:extLst>
                  <a:ext uri="{FF2B5EF4-FFF2-40B4-BE49-F238E27FC236}">
                    <a16:creationId xmlns:a16="http://schemas.microsoft.com/office/drawing/2014/main" id="{F5E4D9F1-2695-A6FD-34BB-256E23EF3D87}"/>
                  </a:ext>
                </a:extLst>
              </p:cNvPr>
              <p:cNvSpPr txBox="1">
                <a:spLocks noChangeArrowheads="1"/>
              </p:cNvSpPr>
              <p:nvPr/>
            </p:nvSpPr>
            <p:spPr bwMode="auto">
              <a:xfrm>
                <a:off x="0" y="1083898"/>
                <a:ext cx="12192000" cy="3988016"/>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808080"/>
                    </a:solidFill>
                    <a:round/>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pPr>
                  <a:spcBef>
                    <a:spcPts val="875"/>
                  </a:spcBef>
                </a:pPr>
                <a:r>
                  <a:rPr lang="it-IT" b="1">
                    <a:solidFill>
                      <a:srgbClr val="FF0000"/>
                    </a:solidFill>
                    <a:latin typeface="Calibri" panose="020F0502020204030204" pitchFamily="34" charset="0"/>
                    <a:ea typeface="Calibri" panose="020F0502020204030204" pitchFamily="34" charset="0"/>
                    <a:cs typeface="Calibri" panose="020F0502020204030204" pitchFamily="34" charset="0"/>
                  </a:rPr>
                  <a:t>SLM</a:t>
                </a:r>
                <a:endParaRPr lang="it-IT">
                  <a:latin typeface="Calibri" panose="020F0502020204030204" pitchFamily="34" charset="0"/>
                  <a:ea typeface="Calibri" panose="020F0502020204030204" pitchFamily="34" charset="0"/>
                  <a:cs typeface="Calibri" panose="020F0502020204030204" pitchFamily="34" charset="0"/>
                </a:endParaRPr>
              </a:p>
              <a:p>
                <a:pPr>
                  <a:spcBef>
                    <a:spcPts val="875"/>
                  </a:spcBef>
                </a:pPr>
                <a:endParaRPr lang="it-IT">
                  <a:latin typeface="Calibri" panose="020F0502020204030204" pitchFamily="34" charset="0"/>
                  <a:ea typeface="Calibri" panose="020F0502020204030204" pitchFamily="34" charset="0"/>
                  <a:cs typeface="Calibri" panose="020F0502020204030204" pitchFamily="34" charset="0"/>
                </a:endParaRPr>
              </a:p>
              <a:p>
                <a:pPr>
                  <a:spcBef>
                    <a:spcPts val="875"/>
                  </a:spcBef>
                </a:pPr>
                <a:r>
                  <a:rPr lang="it-IT">
                    <a:latin typeface="Calibri" panose="020F0502020204030204" pitchFamily="34" charset="0"/>
                    <a:ea typeface="Calibri" panose="020F0502020204030204" pitchFamily="34" charset="0"/>
                    <a:cs typeface="Calibri" panose="020F0502020204030204" pitchFamily="34" charset="0"/>
                  </a:rPr>
                  <a:t>Per gli SLM esistono versioni specializzate per specifici compiti, tra cui i modelli </a:t>
                </a:r>
                <a:r>
                  <a:rPr lang="it-IT" i="1" err="1">
                    <a:latin typeface="Calibri" panose="020F0502020204030204" pitchFamily="34" charset="0"/>
                    <a:ea typeface="Calibri" panose="020F0502020204030204" pitchFamily="34" charset="0"/>
                    <a:cs typeface="Calibri" panose="020F0502020204030204" pitchFamily="34" charset="0"/>
                  </a:rPr>
                  <a:t>instruct</a:t>
                </a:r>
                <a:r>
                  <a:rPr lang="it-IT">
                    <a:latin typeface="Calibri" panose="020F0502020204030204" pitchFamily="34" charset="0"/>
                    <a:ea typeface="Calibri" panose="020F0502020204030204" pitchFamily="34" charset="0"/>
                    <a:cs typeface="Calibri" panose="020F0502020204030204" pitchFamily="34" charset="0"/>
                  </a:rPr>
                  <a:t>, ottimizzati per seguire istruzioni</a:t>
                </a:r>
              </a:p>
              <a:p>
                <a:pPr>
                  <a:spcBef>
                    <a:spcPts val="875"/>
                  </a:spcBef>
                </a:pPr>
                <a:endParaRPr lang="it-IT">
                  <a:latin typeface="Calibri" panose="020F0502020204030204" pitchFamily="34" charset="0"/>
                  <a:ea typeface="Calibri" panose="020F0502020204030204" pitchFamily="34" charset="0"/>
                  <a:cs typeface="Calibri" panose="020F0502020204030204" pitchFamily="34" charset="0"/>
                </a:endParaRPr>
              </a:p>
              <a:p>
                <a:pPr>
                  <a:spcBef>
                    <a:spcPts val="875"/>
                  </a:spcBef>
                </a:pPr>
                <a:r>
                  <a:rPr lang="it-IT">
                    <a:latin typeface="Calibri" panose="020F0502020204030204" pitchFamily="34" charset="0"/>
                    <a:ea typeface="Calibri" panose="020F0502020204030204" pitchFamily="34" charset="0"/>
                    <a:cs typeface="Calibri" panose="020F0502020204030204" pitchFamily="34" charset="0"/>
                  </a:rPr>
                  <a:t>Struttura </a:t>
                </a:r>
                <a:r>
                  <a:rPr lang="it-IT" err="1">
                    <a:latin typeface="Calibri" panose="020F0502020204030204" pitchFamily="34" charset="0"/>
                    <a:ea typeface="Calibri" panose="020F0502020204030204" pitchFamily="34" charset="0"/>
                    <a:cs typeface="Calibri" panose="020F0502020204030204" pitchFamily="34" charset="0"/>
                  </a:rPr>
                  <a:t>Istruct</a:t>
                </a:r>
                <a:r>
                  <a:rPr lang="it-IT">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Token </a:t>
                </a:r>
                <a:r>
                  <a:rPr lang="it-IT" err="1">
                    <a:latin typeface="Calibri" panose="020F0502020204030204" pitchFamily="34" charset="0"/>
                    <a:ea typeface="Calibri" panose="020F0502020204030204" pitchFamily="34" charset="0"/>
                    <a:cs typeface="Calibri" panose="020F0502020204030204" pitchFamily="34" charset="0"/>
                  </a:rPr>
                  <a:t>embedding</a:t>
                </a:r>
                <a:r>
                  <a:rPr lang="it-IT">
                    <a:latin typeface="Calibri" panose="020F0502020204030204" pitchFamily="34" charset="0"/>
                    <a:ea typeface="Calibri" panose="020F0502020204030204" pitchFamily="34" charset="0"/>
                    <a:cs typeface="Calibri" panose="020F0502020204030204" pitchFamily="34" charset="0"/>
                  </a:rPr>
                  <a:t>: mapping token in vettori (Parametro: </a:t>
                </a:r>
                <a14:m>
                  <m:oMath xmlns:m="http://schemas.openxmlformats.org/officeDocument/2006/math">
                    <m:sSub>
                      <m:sSubPr>
                        <m:ctrlPr>
                          <a:rPr lang="it-IT" b="0" i="1" dirty="0" smtClean="0">
                            <a:latin typeface="Cambria Math" panose="02040503050406030204" pitchFamily="18" charset="0"/>
                            <a:ea typeface="Calibri" panose="020F0502020204030204" pitchFamily="34" charset="0"/>
                            <a:cs typeface="Calibri" panose="020F0502020204030204" pitchFamily="34" charset="0"/>
                          </a:rPr>
                        </m:ctrlPr>
                      </m:sSubPr>
                      <m:e>
                        <m:r>
                          <a:rPr lang="it-IT" i="1" dirty="0" smtClean="0">
                            <a:latin typeface="Cambria Math" panose="02040503050406030204" pitchFamily="18" charset="0"/>
                            <a:ea typeface="Calibri" panose="020F0502020204030204" pitchFamily="34" charset="0"/>
                            <a:cs typeface="Calibri" panose="020F0502020204030204" pitchFamily="34" charset="0"/>
                          </a:rPr>
                          <m:t>𝑊</m:t>
                        </m:r>
                      </m:e>
                      <m:sub>
                        <m:d>
                          <m:dPr>
                            <m:ctrlPr>
                              <a:rPr lang="it-IT" b="0" i="1" dirty="0" smtClean="0">
                                <a:latin typeface="Cambria Math" panose="02040503050406030204" pitchFamily="18" charset="0"/>
                                <a:ea typeface="Calibri" panose="020F0502020204030204" pitchFamily="34" charset="0"/>
                                <a:cs typeface="Calibri" panose="020F0502020204030204" pitchFamily="34" charset="0"/>
                              </a:rPr>
                            </m:ctrlPr>
                          </m:dPr>
                          <m:e>
                            <m:r>
                              <a:rPr lang="it-IT" i="1" dirty="0" smtClean="0">
                                <a:latin typeface="Cambria Math" panose="02040503050406030204" pitchFamily="18" charset="0"/>
                                <a:ea typeface="Calibri" panose="020F0502020204030204" pitchFamily="34" charset="0"/>
                                <a:cs typeface="Calibri" panose="020F0502020204030204" pitchFamily="34" charset="0"/>
                              </a:rPr>
                              <m:t>𝑒𝑚𝑏𝑒𝑑</m:t>
                            </m:r>
                          </m:e>
                        </m:d>
                      </m:sub>
                    </m:sSub>
                  </m:oMath>
                </a14:m>
                <a:r>
                  <a:rPr lang="it-IT">
                    <a:latin typeface="Calibri" panose="020F0502020204030204" pitchFamily="34" charset="0"/>
                    <a:ea typeface="Calibri" panose="020F0502020204030204" pitchFamily="34" charset="0"/>
                    <a:cs typeface="Calibri" panose="020F0502020204030204" pitchFamily="34" charset="0"/>
                  </a:rPr>
                  <a:t> con dimensioni </a:t>
                </a:r>
                <a:r>
                  <a:rPr lang="it-IT" err="1">
                    <a:latin typeface="Calibri" panose="020F0502020204030204" pitchFamily="34" charset="0"/>
                    <a:ea typeface="Calibri" panose="020F0502020204030204" pitchFamily="34" charset="0"/>
                    <a:cs typeface="Calibri" panose="020F0502020204030204" pitchFamily="34" charset="0"/>
                  </a:rPr>
                  <a:t>vocab_size</a:t>
                </a:r>
                <a:r>
                  <a:rPr lang="it-IT">
                    <a:latin typeface="Calibri" panose="020F0502020204030204" pitchFamily="34" charset="0"/>
                    <a:ea typeface="Calibri" panose="020F0502020204030204" pitchFamily="34" charset="0"/>
                    <a:cs typeface="Calibri" panose="020F0502020204030204" pitchFamily="34" charset="0"/>
                  </a:rPr>
                  <a:t> X </a:t>
                </a:r>
                <a:r>
                  <a:rPr lang="it-IT" err="1">
                    <a:latin typeface="Calibri" panose="020F0502020204030204" pitchFamily="34" charset="0"/>
                    <a:ea typeface="Calibri" panose="020F0502020204030204" pitchFamily="34" charset="0"/>
                    <a:cs typeface="Calibri" panose="020F0502020204030204" pitchFamily="34" charset="0"/>
                  </a:rPr>
                  <a:t>hidden_size</a:t>
                </a:r>
                <a:r>
                  <a:rPr lang="it-IT">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it-IT" err="1">
                    <a:latin typeface="Calibri" panose="020F0502020204030204" pitchFamily="34" charset="0"/>
                    <a:ea typeface="Calibri" panose="020F0502020204030204" pitchFamily="34" charset="0"/>
                    <a:cs typeface="Calibri" panose="020F0502020204030204" pitchFamily="34" charset="0"/>
                  </a:rPr>
                  <a:t>Partial</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Encoding</a:t>
                </a:r>
                <a:r>
                  <a:rPr lang="it-IT">
                    <a:latin typeface="Calibri" panose="020F0502020204030204" pitchFamily="34" charset="0"/>
                    <a:ea typeface="Calibri" panose="020F0502020204030204" pitchFamily="34" charset="0"/>
                    <a:cs typeface="Calibri" panose="020F0502020204030204" pitchFamily="34" charset="0"/>
                  </a:rPr>
                  <a:t>: rotary (Parametri: Q, K non addestrabili) </a:t>
                </a:r>
              </a:p>
              <a:p>
                <a:pPr marL="285750" indent="-285750">
                  <a:buFont typeface="Arial" panose="020B0604020202020204" pitchFamily="34" charset="0"/>
                  <a:buChar char="•"/>
                </a:pPr>
                <a:r>
                  <a:rPr lang="it-IT" err="1">
                    <a:latin typeface="Calibri" panose="020F0502020204030204" pitchFamily="34" charset="0"/>
                    <a:ea typeface="Calibri" panose="020F0502020204030204" pitchFamily="34" charset="0"/>
                    <a:cs typeface="Calibri" panose="020F0502020204030204" pitchFamily="34" charset="0"/>
                  </a:rPr>
                  <a:t>Masked</a:t>
                </a:r>
                <a:r>
                  <a:rPr lang="it-IT">
                    <a:latin typeface="Calibri" panose="020F0502020204030204" pitchFamily="34" charset="0"/>
                    <a:ea typeface="Calibri" panose="020F0502020204030204" pitchFamily="34" charset="0"/>
                    <a:cs typeface="Calibri" panose="020F0502020204030204" pitchFamily="34" charset="0"/>
                  </a:rPr>
                  <a:t> self </a:t>
                </a:r>
                <a:r>
                  <a:rPr lang="it-IT" err="1">
                    <a:latin typeface="Calibri" panose="020F0502020204030204" pitchFamily="34" charset="0"/>
                    <a:ea typeface="Calibri" panose="020F0502020204030204" pitchFamily="34" charset="0"/>
                    <a:cs typeface="Calibri" panose="020F0502020204030204" pitchFamily="34" charset="0"/>
                  </a:rPr>
                  <a:t>attention</a:t>
                </a:r>
                <a:r>
                  <a:rPr lang="it-IT">
                    <a:latin typeface="Calibri" panose="020F0502020204030204" pitchFamily="34" charset="0"/>
                    <a:ea typeface="Calibri" panose="020F0502020204030204" pitchFamily="34" charset="0"/>
                    <a:cs typeface="Calibri" panose="020F0502020204030204" pitchFamily="34" charset="0"/>
                  </a:rPr>
                  <a:t>: attenzione causale (il token al tempo t vede solo tempi&lt;t) (Parametri: </a:t>
                </a:r>
                <a14:m>
                  <m:oMath xmlns:m="http://schemas.openxmlformats.org/officeDocument/2006/math">
                    <m:sSub>
                      <m:sSubPr>
                        <m:ctrlPr>
                          <a:rPr lang="it-IT" b="0" i="1" dirty="0" smtClean="0">
                            <a:latin typeface="Cambria Math" panose="02040503050406030204" pitchFamily="18" charset="0"/>
                            <a:ea typeface="Calibri" panose="020F0502020204030204" pitchFamily="34" charset="0"/>
                            <a:cs typeface="Calibri" panose="020F0502020204030204" pitchFamily="34" charset="0"/>
                          </a:rPr>
                        </m:ctrlPr>
                      </m:sSubPr>
                      <m:e>
                        <m:r>
                          <a:rPr lang="it-IT" i="1" dirty="0" smtClean="0">
                            <a:latin typeface="Cambria Math" panose="02040503050406030204" pitchFamily="18" charset="0"/>
                            <a:ea typeface="Calibri" panose="020F0502020204030204" pitchFamily="34" charset="0"/>
                            <a:cs typeface="Calibri" panose="020F0502020204030204" pitchFamily="34" charset="0"/>
                          </a:rPr>
                          <m:t>𝑊</m:t>
                        </m:r>
                      </m:e>
                      <m:sub>
                        <m:r>
                          <a:rPr lang="it-IT" b="0" i="1" dirty="0" smtClean="0">
                            <a:latin typeface="Cambria Math" panose="02040503050406030204" pitchFamily="18" charset="0"/>
                            <a:ea typeface="Calibri" panose="020F0502020204030204" pitchFamily="34" charset="0"/>
                            <a:cs typeface="Calibri" panose="020F0502020204030204" pitchFamily="34" charset="0"/>
                          </a:rPr>
                          <m:t>𝑄</m:t>
                        </m:r>
                      </m:sub>
                    </m:sSub>
                    <m:r>
                      <a:rPr lang="it-IT"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it-IT" b="0" i="1" dirty="0" smtClean="0">
                            <a:latin typeface="Cambria Math" panose="02040503050406030204" pitchFamily="18" charset="0"/>
                            <a:ea typeface="Calibri" panose="020F0502020204030204" pitchFamily="34" charset="0"/>
                            <a:cs typeface="Calibri" panose="020F0502020204030204" pitchFamily="34" charset="0"/>
                          </a:rPr>
                        </m:ctrlPr>
                      </m:sSubPr>
                      <m:e>
                        <m:r>
                          <a:rPr lang="it-IT" i="1" dirty="0" smtClean="0">
                            <a:latin typeface="Cambria Math" panose="02040503050406030204" pitchFamily="18" charset="0"/>
                            <a:ea typeface="Calibri" panose="020F0502020204030204" pitchFamily="34" charset="0"/>
                            <a:cs typeface="Calibri" panose="020F0502020204030204" pitchFamily="34" charset="0"/>
                          </a:rPr>
                          <m:t>𝑊</m:t>
                        </m:r>
                      </m:e>
                      <m:sub>
                        <m:r>
                          <a:rPr lang="it-IT" b="0" i="1" dirty="0" smtClean="0">
                            <a:latin typeface="Cambria Math" panose="02040503050406030204" pitchFamily="18" charset="0"/>
                            <a:ea typeface="Calibri" panose="020F0502020204030204" pitchFamily="34" charset="0"/>
                            <a:cs typeface="Calibri" panose="020F0502020204030204" pitchFamily="34" charset="0"/>
                          </a:rPr>
                          <m:t>𝐾</m:t>
                        </m:r>
                      </m:sub>
                    </m:sSub>
                    <m:r>
                      <a:rPr lang="it-IT" b="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it-IT" b="0" i="1" dirty="0" smtClean="0">
                            <a:latin typeface="Cambria Math" panose="02040503050406030204" pitchFamily="18" charset="0"/>
                            <a:ea typeface="Calibri" panose="020F0502020204030204" pitchFamily="34" charset="0"/>
                            <a:cs typeface="Calibri" panose="020F0502020204030204" pitchFamily="34" charset="0"/>
                          </a:rPr>
                        </m:ctrlPr>
                      </m:sSubPr>
                      <m:e>
                        <m:r>
                          <a:rPr lang="it-IT" b="0" i="1" dirty="0" smtClean="0">
                            <a:latin typeface="Cambria Math" panose="02040503050406030204" pitchFamily="18" charset="0"/>
                            <a:ea typeface="Calibri" panose="020F0502020204030204" pitchFamily="34" charset="0"/>
                            <a:cs typeface="Calibri" panose="020F0502020204030204" pitchFamily="34" charset="0"/>
                          </a:rPr>
                          <m:t>𝑊</m:t>
                        </m:r>
                      </m:e>
                      <m:sub>
                        <m:r>
                          <a:rPr lang="it-IT" b="0" i="1" dirty="0" smtClean="0">
                            <a:latin typeface="Cambria Math" panose="02040503050406030204" pitchFamily="18" charset="0"/>
                            <a:ea typeface="Calibri" panose="020F0502020204030204" pitchFamily="34" charset="0"/>
                            <a:cs typeface="Calibri" panose="020F0502020204030204" pitchFamily="34" charset="0"/>
                          </a:rPr>
                          <m:t>𝑉</m:t>
                        </m:r>
                      </m:sub>
                    </m:sSub>
                  </m:oMath>
                </a14:m>
                <a:r>
                  <a:rPr lang="it-IT">
                    <a:latin typeface="Calibri" panose="020F0502020204030204" pitchFamily="34" charset="0"/>
                    <a:ea typeface="Calibri" panose="020F0502020204030204" pitchFamily="34" charset="0"/>
                    <a:cs typeface="Calibri" panose="020F0502020204030204" pitchFamily="34" charset="0"/>
                  </a:rPr>
                  <a:t>per attenzione, </a:t>
                </a:r>
                <a14:m>
                  <m:oMath xmlns:m="http://schemas.openxmlformats.org/officeDocument/2006/math">
                    <m:sSub>
                      <m:sSubPr>
                        <m:ctrlPr>
                          <a:rPr lang="it-IT" b="0" i="1" smtClean="0">
                            <a:latin typeface="Cambria Math" panose="02040503050406030204" pitchFamily="18" charset="0"/>
                            <a:ea typeface="Calibri" panose="020F0502020204030204" pitchFamily="34" charset="0"/>
                            <a:cs typeface="Calibri" panose="020F0502020204030204" pitchFamily="34" charset="0"/>
                          </a:rPr>
                        </m:ctrlPr>
                      </m:sSubPr>
                      <m:e>
                        <m:r>
                          <a:rPr lang="it-IT" b="0" i="1" smtClean="0">
                            <a:latin typeface="Cambria Math" panose="02040503050406030204" pitchFamily="18" charset="0"/>
                            <a:ea typeface="Calibri" panose="020F0502020204030204" pitchFamily="34" charset="0"/>
                            <a:cs typeface="Calibri" panose="020F0502020204030204" pitchFamily="34" charset="0"/>
                          </a:rPr>
                          <m:t>𝑊</m:t>
                        </m:r>
                      </m:e>
                      <m:sub>
                        <m:r>
                          <a:rPr lang="it-IT" b="0" i="1" smtClean="0">
                            <a:latin typeface="Cambria Math" panose="02040503050406030204" pitchFamily="18" charset="0"/>
                            <a:ea typeface="Calibri" panose="020F0502020204030204" pitchFamily="34" charset="0"/>
                            <a:cs typeface="Calibri" panose="020F0502020204030204" pitchFamily="34" charset="0"/>
                          </a:rPr>
                          <m:t>𝑂</m:t>
                        </m:r>
                      </m:sub>
                    </m:sSub>
                  </m:oMath>
                </a14:m>
                <a:r>
                  <a:rPr lang="it-IT">
                    <a:latin typeface="Calibri" panose="020F0502020204030204" pitchFamily="34" charset="0"/>
                    <a:ea typeface="Calibri" panose="020F0502020204030204" pitchFamily="34" charset="0"/>
                    <a:cs typeface="Calibri" panose="020F0502020204030204" pitchFamily="34" charset="0"/>
                  </a:rPr>
                  <a:t> per l’output) </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Feed </a:t>
                </a:r>
                <a:r>
                  <a:rPr lang="it-IT" err="1">
                    <a:latin typeface="Calibri" panose="020F0502020204030204" pitchFamily="34" charset="0"/>
                    <a:ea typeface="Calibri" panose="020F0502020204030204" pitchFamily="34" charset="0"/>
                    <a:cs typeface="Calibri" panose="020F0502020204030204" pitchFamily="34" charset="0"/>
                  </a:rPr>
                  <a:t>Forward</a:t>
                </a:r>
                <a:r>
                  <a:rPr lang="it-IT">
                    <a:latin typeface="Calibri" panose="020F0502020204030204" pitchFamily="34" charset="0"/>
                    <a:ea typeface="Calibri" panose="020F0502020204030204" pitchFamily="34" charset="0"/>
                    <a:cs typeface="Calibri" panose="020F0502020204030204" pitchFamily="34" charset="0"/>
                  </a:rPr>
                  <a:t> Network (Parametri: </a:t>
                </a:r>
                <a14:m>
                  <m:oMath xmlns:m="http://schemas.openxmlformats.org/officeDocument/2006/math">
                    <m:sSub>
                      <m:sSubPr>
                        <m:ctrlPr>
                          <a:rPr lang="it-IT" b="0" i="1" smtClean="0">
                            <a:latin typeface="Cambria Math" panose="02040503050406030204" pitchFamily="18" charset="0"/>
                            <a:ea typeface="Calibri" panose="020F0502020204030204" pitchFamily="34" charset="0"/>
                            <a:cs typeface="Calibri" panose="020F0502020204030204" pitchFamily="34" charset="0"/>
                          </a:rPr>
                        </m:ctrlPr>
                      </m:sSubPr>
                      <m:e>
                        <m:r>
                          <a:rPr lang="it-IT" b="0" i="1" smtClean="0">
                            <a:latin typeface="Cambria Math" panose="02040503050406030204" pitchFamily="18" charset="0"/>
                            <a:ea typeface="Calibri" panose="020F0502020204030204" pitchFamily="34" charset="0"/>
                            <a:cs typeface="Calibri" panose="020F0502020204030204" pitchFamily="34" charset="0"/>
                          </a:rPr>
                          <m:t>𝑊</m:t>
                        </m:r>
                      </m:e>
                      <m:sub>
                        <m:r>
                          <a:rPr lang="it-IT" b="0" i="1" smtClean="0">
                            <a:latin typeface="Cambria Math" panose="02040503050406030204" pitchFamily="18" charset="0"/>
                            <a:ea typeface="Calibri" panose="020F0502020204030204" pitchFamily="34" charset="0"/>
                            <a:cs typeface="Calibri" panose="020F0502020204030204" pitchFamily="34" charset="0"/>
                          </a:rPr>
                          <m:t>1</m:t>
                        </m:r>
                      </m:sub>
                    </m:sSub>
                    <m:r>
                      <a:rPr lang="it-IT" b="0" i="1" smtClean="0">
                        <a:latin typeface="Cambria Math" panose="02040503050406030204" pitchFamily="18" charset="0"/>
                        <a:ea typeface="Calibri" panose="020F0502020204030204" pitchFamily="34" charset="0"/>
                        <a:cs typeface="Calibri" panose="020F0502020204030204" pitchFamily="34" charset="0"/>
                      </a:rPr>
                      <m:t>∈</m:t>
                    </m:r>
                    <m:sSup>
                      <m:sSupPr>
                        <m:ctrlPr>
                          <a:rPr lang="it-IT" b="0" i="1" smtClean="0">
                            <a:latin typeface="Cambria Math" panose="02040503050406030204" pitchFamily="18" charset="0"/>
                            <a:ea typeface="Calibri" panose="020F0502020204030204" pitchFamily="34" charset="0"/>
                            <a:cs typeface="Calibri" panose="020F0502020204030204" pitchFamily="34" charset="0"/>
                          </a:rPr>
                        </m:ctrlPr>
                      </m:sSupPr>
                      <m:e>
                        <m:r>
                          <m:rPr>
                            <m:nor/>
                          </m:rPr>
                          <a:rPr lang="it-IT" dirty="0">
                            <a:latin typeface="Calibri" panose="020F0502020204030204" pitchFamily="34" charset="0"/>
                            <a:ea typeface="Calibri" panose="020F0502020204030204" pitchFamily="34" charset="0"/>
                            <a:cs typeface="Calibri" panose="020F0502020204030204" pitchFamily="34" charset="0"/>
                          </a:rPr>
                          <m:t>ℝ</m:t>
                        </m:r>
                      </m:e>
                      <m:sup>
                        <m:d>
                          <m:dPr>
                            <m:ctrlPr>
                              <a:rPr lang="it-IT" b="0" i="1" smtClean="0">
                                <a:latin typeface="Cambria Math" panose="02040503050406030204" pitchFamily="18" charset="0"/>
                                <a:ea typeface="Calibri" panose="020F0502020204030204" pitchFamily="34" charset="0"/>
                                <a:cs typeface="Calibri" panose="020F0502020204030204" pitchFamily="34" charset="0"/>
                              </a:rPr>
                            </m:ctrlPr>
                          </m:dPr>
                          <m:e>
                            <m:r>
                              <a:rPr lang="it-IT" b="0" i="0" smtClean="0">
                                <a:latin typeface="Cambria Math" panose="02040503050406030204" pitchFamily="18" charset="0"/>
                                <a:ea typeface="Calibri" panose="020F0502020204030204" pitchFamily="34" charset="0"/>
                                <a:cs typeface="Calibri" panose="020F0502020204030204" pitchFamily="34" charset="0"/>
                              </a:rPr>
                              <m:t>𝑑𝑥</m:t>
                            </m:r>
                            <m:sSub>
                              <m:sSubPr>
                                <m:ctrlPr>
                                  <a:rPr lang="it-IT" b="0" i="1" smtClean="0">
                                    <a:latin typeface="Cambria Math" panose="02040503050406030204" pitchFamily="18" charset="0"/>
                                    <a:ea typeface="Calibri" panose="020F0502020204030204" pitchFamily="34" charset="0"/>
                                    <a:cs typeface="Calibri" panose="020F0502020204030204" pitchFamily="34" charset="0"/>
                                  </a:rPr>
                                </m:ctrlPr>
                              </m:sSubPr>
                              <m:e>
                                <m:r>
                                  <a:rPr lang="it-IT" b="0" i="0" smtClean="0">
                                    <a:latin typeface="Cambria Math" panose="02040503050406030204" pitchFamily="18" charset="0"/>
                                    <a:ea typeface="Calibri" panose="020F0502020204030204" pitchFamily="34" charset="0"/>
                                    <a:cs typeface="Calibri" panose="020F0502020204030204" pitchFamily="34" charset="0"/>
                                  </a:rPr>
                                  <m:t>𝑑</m:t>
                                </m:r>
                              </m:e>
                              <m:sub>
                                <m:r>
                                  <m:rPr>
                                    <m:sty m:val="p"/>
                                  </m:rPr>
                                  <a:rPr lang="it-IT" b="0" i="1" smtClean="0">
                                    <a:latin typeface="Cambria Math" panose="02040503050406030204" pitchFamily="18" charset="0"/>
                                    <a:ea typeface="Calibri" panose="020F0502020204030204" pitchFamily="34" charset="0"/>
                                    <a:cs typeface="Calibri" panose="020F0502020204030204" pitchFamily="34" charset="0"/>
                                  </a:rPr>
                                  <m:t>ff</m:t>
                                </m:r>
                              </m:sub>
                            </m:sSub>
                          </m:e>
                        </m:d>
                      </m:sup>
                    </m:sSup>
                  </m:oMath>
                </a14:m>
                <a:r>
                  <a:rPr lang="it-I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it-IT" b="0" i="1" smtClean="0">
                            <a:latin typeface="Cambria Math" panose="02040503050406030204" pitchFamily="18" charset="0"/>
                            <a:ea typeface="Calibri" panose="020F0502020204030204" pitchFamily="34" charset="0"/>
                            <a:cs typeface="Calibri" panose="020F0502020204030204" pitchFamily="34" charset="0"/>
                          </a:rPr>
                        </m:ctrlPr>
                      </m:sSubPr>
                      <m:e>
                        <m:r>
                          <a:rPr lang="it-IT" b="0" i="1" smtClean="0">
                            <a:latin typeface="Cambria Math" panose="02040503050406030204" pitchFamily="18" charset="0"/>
                            <a:ea typeface="Calibri" panose="020F0502020204030204" pitchFamily="34" charset="0"/>
                            <a:cs typeface="Calibri" panose="020F0502020204030204" pitchFamily="34" charset="0"/>
                          </a:rPr>
                          <m:t>𝑊</m:t>
                        </m:r>
                      </m:e>
                      <m:sub>
                        <m:r>
                          <a:rPr lang="it-IT" b="0" i="1" smtClean="0">
                            <a:latin typeface="Cambria Math" panose="02040503050406030204" pitchFamily="18" charset="0"/>
                            <a:ea typeface="Calibri" panose="020F0502020204030204" pitchFamily="34" charset="0"/>
                            <a:cs typeface="Calibri" panose="020F0502020204030204" pitchFamily="34" charset="0"/>
                          </a:rPr>
                          <m:t>2</m:t>
                        </m:r>
                      </m:sub>
                    </m:sSub>
                    <m:r>
                      <a:rPr lang="it-IT" i="1">
                        <a:latin typeface="Cambria Math" panose="02040503050406030204" pitchFamily="18" charset="0"/>
                        <a:ea typeface="Calibri" panose="020F0502020204030204" pitchFamily="34" charset="0"/>
                        <a:cs typeface="Calibri" panose="020F0502020204030204" pitchFamily="34" charset="0"/>
                      </a:rPr>
                      <m:t>∈</m:t>
                    </m:r>
                    <m:sSup>
                      <m:sSupPr>
                        <m:ctrlPr>
                          <a:rPr lang="it-IT" i="1">
                            <a:latin typeface="Cambria Math" panose="02040503050406030204" pitchFamily="18" charset="0"/>
                            <a:ea typeface="Calibri" panose="020F0502020204030204" pitchFamily="34" charset="0"/>
                            <a:cs typeface="Calibri" panose="020F0502020204030204" pitchFamily="34" charset="0"/>
                          </a:rPr>
                        </m:ctrlPr>
                      </m:sSupPr>
                      <m:e>
                        <m:r>
                          <m:rPr>
                            <m:nor/>
                          </m:rPr>
                          <a:rPr lang="it-IT" dirty="0">
                            <a:latin typeface="Calibri" panose="020F0502020204030204" pitchFamily="34" charset="0"/>
                            <a:ea typeface="Calibri" panose="020F0502020204030204" pitchFamily="34" charset="0"/>
                            <a:cs typeface="Calibri" panose="020F0502020204030204" pitchFamily="34" charset="0"/>
                          </a:rPr>
                          <m:t>ℝ</m:t>
                        </m:r>
                      </m:e>
                      <m:sup>
                        <m:d>
                          <m:dPr>
                            <m:ctrlPr>
                              <a:rPr lang="it-IT" i="1">
                                <a:latin typeface="Cambria Math" panose="02040503050406030204" pitchFamily="18" charset="0"/>
                                <a:ea typeface="Calibri" panose="020F0502020204030204" pitchFamily="34" charset="0"/>
                                <a:cs typeface="Calibri" panose="020F0502020204030204" pitchFamily="34" charset="0"/>
                              </a:rPr>
                            </m:ctrlPr>
                          </m:dPr>
                          <m:e>
                            <m:r>
                              <a:rPr lang="it-IT">
                                <a:latin typeface="Cambria Math" panose="02040503050406030204" pitchFamily="18" charset="0"/>
                                <a:ea typeface="Calibri" panose="020F0502020204030204" pitchFamily="34" charset="0"/>
                                <a:cs typeface="Calibri" panose="020F0502020204030204" pitchFamily="34" charset="0"/>
                              </a:rPr>
                              <m:t>𝑑𝑥</m:t>
                            </m:r>
                            <m:sSub>
                              <m:sSubPr>
                                <m:ctrlPr>
                                  <a:rPr lang="it-IT" i="1">
                                    <a:latin typeface="Cambria Math" panose="02040503050406030204" pitchFamily="18" charset="0"/>
                                    <a:ea typeface="Calibri" panose="020F0502020204030204" pitchFamily="34" charset="0"/>
                                    <a:cs typeface="Calibri" panose="020F0502020204030204" pitchFamily="34" charset="0"/>
                                  </a:rPr>
                                </m:ctrlPr>
                              </m:sSubPr>
                              <m:e>
                                <m:r>
                                  <a:rPr lang="it-IT">
                                    <a:latin typeface="Cambria Math" panose="02040503050406030204" pitchFamily="18" charset="0"/>
                                    <a:ea typeface="Calibri" panose="020F0502020204030204" pitchFamily="34" charset="0"/>
                                    <a:cs typeface="Calibri" panose="020F0502020204030204" pitchFamily="34" charset="0"/>
                                  </a:rPr>
                                  <m:t>𝑑</m:t>
                                </m:r>
                              </m:e>
                              <m:sub>
                                <m:r>
                                  <m:rPr>
                                    <m:sty m:val="p"/>
                                  </m:rPr>
                                  <a:rPr lang="it-IT" b="0" i="0" smtClean="0">
                                    <a:latin typeface="Cambria Math" panose="02040503050406030204" pitchFamily="18" charset="0"/>
                                    <a:ea typeface="Calibri" panose="020F0502020204030204" pitchFamily="34" charset="0"/>
                                    <a:cs typeface="Calibri" panose="020F0502020204030204" pitchFamily="34" charset="0"/>
                                  </a:rPr>
                                  <m:t>ff</m:t>
                                </m:r>
                              </m:sub>
                            </m:sSub>
                          </m:e>
                        </m:d>
                      </m:sup>
                    </m:sSup>
                    <m:r>
                      <a:rPr lang="it-IT" b="0" i="1" smtClean="0">
                        <a:latin typeface="Cambria Math" panose="02040503050406030204" pitchFamily="18" charset="0"/>
                        <a:ea typeface="Calibri" panose="020F0502020204030204" pitchFamily="34" charset="0"/>
                        <a:cs typeface="Calibri" panose="020F0502020204030204" pitchFamily="34" charset="0"/>
                      </a:rPr>
                      <m:t>,</m:t>
                    </m:r>
                    <m:sSub>
                      <m:sSubPr>
                        <m:ctrlPr>
                          <a:rPr lang="it-IT" b="0" i="1" smtClean="0">
                            <a:latin typeface="Cambria Math" panose="02040503050406030204" pitchFamily="18" charset="0"/>
                            <a:ea typeface="Calibri" panose="020F0502020204030204" pitchFamily="34" charset="0"/>
                            <a:cs typeface="Calibri" panose="020F0502020204030204" pitchFamily="34" charset="0"/>
                          </a:rPr>
                        </m:ctrlPr>
                      </m:sSubPr>
                      <m:e>
                        <m:r>
                          <a:rPr lang="it-IT" b="0" i="1" smtClean="0">
                            <a:latin typeface="Cambria Math" panose="02040503050406030204" pitchFamily="18" charset="0"/>
                            <a:ea typeface="Calibri" panose="020F0502020204030204" pitchFamily="34" charset="0"/>
                            <a:cs typeface="Calibri" panose="020F0502020204030204" pitchFamily="34" charset="0"/>
                          </a:rPr>
                          <m:t>𝑊</m:t>
                        </m:r>
                      </m:e>
                      <m:sub>
                        <m:r>
                          <a:rPr lang="it-IT" b="0" i="1" smtClean="0">
                            <a:latin typeface="Cambria Math" panose="02040503050406030204" pitchFamily="18" charset="0"/>
                            <a:ea typeface="Calibri" panose="020F0502020204030204" pitchFamily="34" charset="0"/>
                            <a:cs typeface="Calibri" panose="020F0502020204030204" pitchFamily="34" charset="0"/>
                          </a:rPr>
                          <m:t>3</m:t>
                        </m:r>
                      </m:sub>
                    </m:sSub>
                    <m:r>
                      <a:rPr lang="it-IT" b="0" i="1" smtClean="0">
                        <a:latin typeface="Cambria Math" panose="02040503050406030204" pitchFamily="18" charset="0"/>
                        <a:ea typeface="Calibri" panose="020F0502020204030204" pitchFamily="34" charset="0"/>
                        <a:cs typeface="Calibri" panose="020F0502020204030204" pitchFamily="34" charset="0"/>
                      </a:rPr>
                      <m:t>∈</m:t>
                    </m:r>
                    <m:sSup>
                      <m:sSupPr>
                        <m:ctrlPr>
                          <a:rPr lang="it-IT" i="1">
                            <a:latin typeface="Cambria Math" panose="02040503050406030204" pitchFamily="18" charset="0"/>
                            <a:ea typeface="Calibri" panose="020F0502020204030204" pitchFamily="34" charset="0"/>
                            <a:cs typeface="Calibri" panose="020F0502020204030204" pitchFamily="34" charset="0"/>
                          </a:rPr>
                        </m:ctrlPr>
                      </m:sSupPr>
                      <m:e>
                        <m:r>
                          <m:rPr>
                            <m:nor/>
                          </m:rPr>
                          <a:rPr lang="it-IT" dirty="0">
                            <a:latin typeface="Calibri" panose="020F0502020204030204" pitchFamily="34" charset="0"/>
                            <a:ea typeface="Calibri" panose="020F0502020204030204" pitchFamily="34" charset="0"/>
                            <a:cs typeface="Calibri" panose="020F0502020204030204" pitchFamily="34" charset="0"/>
                          </a:rPr>
                          <m:t>ℝ</m:t>
                        </m:r>
                      </m:e>
                      <m:sup>
                        <m:d>
                          <m:dPr>
                            <m:ctrlPr>
                              <a:rPr lang="it-IT" i="1">
                                <a:latin typeface="Cambria Math" panose="02040503050406030204" pitchFamily="18" charset="0"/>
                                <a:ea typeface="Calibri" panose="020F0502020204030204" pitchFamily="34" charset="0"/>
                                <a:cs typeface="Calibri" panose="020F0502020204030204" pitchFamily="34" charset="0"/>
                              </a:rPr>
                            </m:ctrlPr>
                          </m:dPr>
                          <m:e>
                            <m:sSub>
                              <m:sSubPr>
                                <m:ctrlPr>
                                  <a:rPr lang="it-IT" i="1">
                                    <a:latin typeface="Cambria Math" panose="02040503050406030204" pitchFamily="18" charset="0"/>
                                    <a:ea typeface="Calibri" panose="020F0502020204030204" pitchFamily="34" charset="0"/>
                                    <a:cs typeface="Calibri" panose="020F0502020204030204" pitchFamily="34" charset="0"/>
                                  </a:rPr>
                                </m:ctrlPr>
                              </m:sSubPr>
                              <m:e>
                                <m:r>
                                  <a:rPr lang="it-IT">
                                    <a:latin typeface="Cambria Math" panose="02040503050406030204" pitchFamily="18" charset="0"/>
                                    <a:ea typeface="Calibri" panose="020F0502020204030204" pitchFamily="34" charset="0"/>
                                    <a:cs typeface="Calibri" panose="020F0502020204030204" pitchFamily="34" charset="0"/>
                                  </a:rPr>
                                  <m:t>𝑑</m:t>
                                </m:r>
                              </m:e>
                              <m:sub>
                                <m:r>
                                  <m:rPr>
                                    <m:sty m:val="p"/>
                                  </m:rPr>
                                  <a:rPr lang="it-IT" b="0" i="0" smtClean="0">
                                    <a:latin typeface="Cambria Math" panose="02040503050406030204" pitchFamily="18" charset="0"/>
                                    <a:ea typeface="Calibri" panose="020F0502020204030204" pitchFamily="34" charset="0"/>
                                    <a:cs typeface="Calibri" panose="020F0502020204030204" pitchFamily="34" charset="0"/>
                                  </a:rPr>
                                  <m:t>ff</m:t>
                                </m:r>
                              </m:sub>
                            </m:sSub>
                            <m:r>
                              <m:rPr>
                                <m:sty m:val="p"/>
                              </m:rPr>
                              <a:rPr lang="it-IT" b="0" i="1" smtClean="0">
                                <a:latin typeface="Cambria Math" panose="02040503050406030204" pitchFamily="18" charset="0"/>
                                <a:ea typeface="Calibri" panose="020F0502020204030204" pitchFamily="34" charset="0"/>
                                <a:cs typeface="Calibri" panose="020F0502020204030204" pitchFamily="34" charset="0"/>
                              </a:rPr>
                              <m:t>xd</m:t>
                            </m:r>
                          </m:e>
                        </m:d>
                      </m:sup>
                    </m:sSup>
                  </m:oMath>
                </a14:m>
                <a:endParaRPr lang="it-I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err="1">
                    <a:latin typeface="Calibri" panose="020F0502020204030204" pitchFamily="34" charset="0"/>
                    <a:ea typeface="Calibri" panose="020F0502020204030204" pitchFamily="34" charset="0"/>
                    <a:cs typeface="Calibri" panose="020F0502020204030204" pitchFamily="34" charset="0"/>
                  </a:rPr>
                  <a:t>Residual</a:t>
                </a:r>
                <a:r>
                  <a:rPr lang="it-IT">
                    <a:latin typeface="Calibri" panose="020F0502020204030204" pitchFamily="34" charset="0"/>
                    <a:ea typeface="Calibri" panose="020F0502020204030204" pitchFamily="34" charset="0"/>
                    <a:cs typeface="Calibri" panose="020F0502020204030204" pitchFamily="34" charset="0"/>
                  </a:rPr>
                  <a:t> Connection + Layer Norm (Parametri: scale r, shift 𝛽)</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Large </a:t>
                </a:r>
                <a:r>
                  <a:rPr lang="it-IT" err="1">
                    <a:latin typeface="Calibri" panose="020F0502020204030204" pitchFamily="34" charset="0"/>
                    <a:ea typeface="Calibri" panose="020F0502020204030204" pitchFamily="34" charset="0"/>
                    <a:cs typeface="Calibri" panose="020F0502020204030204" pitchFamily="34" charset="0"/>
                  </a:rPr>
                  <a:t>Modeling</a:t>
                </a:r>
                <a:r>
                  <a:rPr lang="it-IT">
                    <a:latin typeface="Calibri" panose="020F0502020204030204" pitchFamily="34" charset="0"/>
                    <a:ea typeface="Calibri" panose="020F0502020204030204" pitchFamily="34" charset="0"/>
                    <a:cs typeface="Calibri" panose="020F0502020204030204" pitchFamily="34" charset="0"/>
                  </a:rPr>
                  <a:t> Head (Parametro: </a:t>
                </a:r>
                <a14:m>
                  <m:oMath xmlns:m="http://schemas.openxmlformats.org/officeDocument/2006/math">
                    <m:sSub>
                      <m:sSubPr>
                        <m:ctrlPr>
                          <a:rPr lang="it-IT" i="1" dirty="0" smtClean="0">
                            <a:latin typeface="Cambria Math" panose="02040503050406030204" pitchFamily="18" charset="0"/>
                            <a:ea typeface="Calibri" panose="020F0502020204030204" pitchFamily="34" charset="0"/>
                            <a:cs typeface="Calibri" panose="020F0502020204030204" pitchFamily="34" charset="0"/>
                          </a:rPr>
                        </m:ctrlPr>
                      </m:sSubPr>
                      <m:e>
                        <m:r>
                          <a:rPr lang="it-IT" i="1" dirty="0" smtClean="0">
                            <a:latin typeface="Cambria Math" panose="02040503050406030204" pitchFamily="18" charset="0"/>
                            <a:ea typeface="Calibri" panose="020F0502020204030204" pitchFamily="34" charset="0"/>
                            <a:cs typeface="Calibri" panose="020F0502020204030204" pitchFamily="34" charset="0"/>
                          </a:rPr>
                          <m:t>𝑊</m:t>
                        </m:r>
                      </m:e>
                      <m:sub>
                        <m:d>
                          <m:dPr>
                            <m:ctrlPr>
                              <a:rPr lang="it-IT" i="1" dirty="0" smtClean="0">
                                <a:latin typeface="Cambria Math" panose="02040503050406030204" pitchFamily="18" charset="0"/>
                                <a:ea typeface="Calibri" panose="020F0502020204030204" pitchFamily="34" charset="0"/>
                                <a:cs typeface="Calibri" panose="020F0502020204030204" pitchFamily="34" charset="0"/>
                              </a:rPr>
                            </m:ctrlPr>
                          </m:dPr>
                          <m:e>
                            <m:r>
                              <a:rPr lang="it-IT" i="1" dirty="0" smtClean="0">
                                <a:latin typeface="Cambria Math" panose="02040503050406030204" pitchFamily="18" charset="0"/>
                                <a:ea typeface="Calibri" panose="020F0502020204030204" pitchFamily="34" charset="0"/>
                                <a:cs typeface="Calibri" panose="020F0502020204030204" pitchFamily="34" charset="0"/>
                              </a:rPr>
                              <m:t>𝑙𝑛</m:t>
                            </m:r>
                          </m:e>
                        </m:d>
                      </m:sub>
                    </m:sSub>
                    <m:r>
                      <a:rPr lang="it-IT" b="0" i="1" dirty="0" smtClean="0">
                        <a:latin typeface="Cambria Math" panose="02040503050406030204" pitchFamily="18" charset="0"/>
                        <a:ea typeface="Calibri" panose="020F0502020204030204" pitchFamily="34" charset="0"/>
                        <a:cs typeface="Calibri" panose="020F0502020204030204" pitchFamily="34" charset="0"/>
                      </a:rPr>
                      <m:t> </m:t>
                    </m:r>
                    <m:r>
                      <a:rPr lang="it-IT" i="1" dirty="0" smtClean="0">
                        <a:latin typeface="Cambria Math" panose="02040503050406030204" pitchFamily="18" charset="0"/>
                        <a:ea typeface="Calibri" panose="020F0502020204030204" pitchFamily="34" charset="0"/>
                        <a:cs typeface="Calibri" panose="020F0502020204030204" pitchFamily="34" charset="0"/>
                      </a:rPr>
                      <m:t> </m:t>
                    </m:r>
                  </m:oMath>
                </a14:m>
                <a:r>
                  <a:rPr lang="it-IT">
                    <a:latin typeface="Calibri" panose="020F0502020204030204" pitchFamily="34" charset="0"/>
                    <a:ea typeface="Calibri" panose="020F0502020204030204" pitchFamily="34" charset="0"/>
                    <a:cs typeface="Calibri" panose="020F0502020204030204" pitchFamily="34" charset="0"/>
                  </a:rPr>
                  <a:t>con dimensioni </a:t>
                </a:r>
                <a:r>
                  <a:rPr lang="it-IT" err="1">
                    <a:latin typeface="Calibri" panose="020F0502020204030204" pitchFamily="34" charset="0"/>
                    <a:ea typeface="Calibri" panose="020F0502020204030204" pitchFamily="34" charset="0"/>
                    <a:cs typeface="Calibri" panose="020F0502020204030204" pitchFamily="34" charset="0"/>
                  </a:rPr>
                  <a:t>hidden_size</a:t>
                </a:r>
                <a:r>
                  <a:rPr lang="it-IT">
                    <a:latin typeface="Calibri" panose="020F0502020204030204" pitchFamily="34" charset="0"/>
                    <a:ea typeface="Calibri" panose="020F0502020204030204" pitchFamily="34" charset="0"/>
                    <a:cs typeface="Calibri" panose="020F0502020204030204" pitchFamily="34" charset="0"/>
                  </a:rPr>
                  <a:t> X </a:t>
                </a:r>
                <a:r>
                  <a:rPr lang="it-IT" err="1">
                    <a:latin typeface="Calibri" panose="020F0502020204030204" pitchFamily="34" charset="0"/>
                    <a:ea typeface="Calibri" panose="020F0502020204030204" pitchFamily="34" charset="0"/>
                    <a:cs typeface="Calibri" panose="020F0502020204030204" pitchFamily="34" charset="0"/>
                  </a:rPr>
                  <a:t>vocab_size</a:t>
                </a:r>
                <a:r>
                  <a:rPr lang="it-IT">
                    <a:latin typeface="Calibri" panose="020F0502020204030204" pitchFamily="34" charset="0"/>
                    <a:ea typeface="Calibri" panose="020F0502020204030204" pitchFamily="34" charset="0"/>
                    <a:cs typeface="Calibri" panose="020F0502020204030204" pitchFamily="34" charset="0"/>
                  </a:rPr>
                  <a:t>) </a:t>
                </a:r>
              </a:p>
            </p:txBody>
          </p:sp>
        </mc:Choice>
        <mc:Fallback>
          <p:sp>
            <p:nvSpPr>
              <p:cNvPr id="6" name="Text Box 2">
                <a:extLst>
                  <a:ext uri="{FF2B5EF4-FFF2-40B4-BE49-F238E27FC236}">
                    <a16:creationId xmlns:a16="http://schemas.microsoft.com/office/drawing/2014/main" id="{F5E4D9F1-2695-A6FD-34BB-256E23EF3D87}"/>
                  </a:ext>
                </a:extLst>
              </p:cNvPr>
              <p:cNvSpPr txBox="1">
                <a:spLocks noRot="1" noChangeAspect="1" noMove="1" noResize="1" noEditPoints="1" noAdjustHandles="1" noChangeArrowheads="1" noChangeShapeType="1" noTextEdit="1"/>
              </p:cNvSpPr>
              <p:nvPr/>
            </p:nvSpPr>
            <p:spPr bwMode="auto">
              <a:xfrm>
                <a:off x="0" y="1083898"/>
                <a:ext cx="12192000" cy="3988016"/>
              </a:xfrm>
              <a:prstGeom prst="rect">
                <a:avLst/>
              </a:prstGeom>
              <a:blipFill>
                <a:blip r:embed="rId4"/>
                <a:stretch>
                  <a:fillRect l="-450" t="-917" b="-306"/>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it-IT">
                    <a:noFill/>
                  </a:rPr>
                  <a:t> </a:t>
                </a:r>
              </a:p>
            </p:txBody>
          </p:sp>
        </mc:Fallback>
      </mc:AlternateContent>
      <p:sp>
        <p:nvSpPr>
          <p:cNvPr id="10" name="Rettangolo 9">
            <a:extLst>
              <a:ext uri="{FF2B5EF4-FFF2-40B4-BE49-F238E27FC236}">
                <a16:creationId xmlns:a16="http://schemas.microsoft.com/office/drawing/2014/main" id="{45FB8EBF-B07B-BD58-5560-80EC52D0C5E7}"/>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Tree>
    <p:extLst>
      <p:ext uri="{BB962C8B-B14F-4D97-AF65-F5344CB8AC3E}">
        <p14:creationId xmlns:p14="http://schemas.microsoft.com/office/powerpoint/2010/main" val="147189792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4D9B7-3931-340F-221D-375AD113528F}"/>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9415ED25-9528-F401-D6D7-8C9A5D01DDB2}"/>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89CA65F4-9CC8-0B50-F9F0-2D8F7A130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0BFAA5F2-4E5F-07BE-1F78-C7BCA293763A}"/>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6" name="Text Box 2">
            <a:extLst>
              <a:ext uri="{FF2B5EF4-FFF2-40B4-BE49-F238E27FC236}">
                <a16:creationId xmlns:a16="http://schemas.microsoft.com/office/drawing/2014/main" id="{C74FB0F7-2EF3-F828-BED5-A58398D20423}"/>
              </a:ext>
            </a:extLst>
          </p:cNvPr>
          <p:cNvSpPr txBox="1">
            <a:spLocks noChangeArrowheads="1"/>
          </p:cNvSpPr>
          <p:nvPr/>
        </p:nvSpPr>
        <p:spPr bwMode="auto">
          <a:xfrm>
            <a:off x="0" y="1038405"/>
            <a:ext cx="12192000" cy="452649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r>
              <a:rPr lang="it-IT" b="1">
                <a:solidFill>
                  <a:srgbClr val="FF0000"/>
                </a:solidFill>
                <a:latin typeface="Calibri" panose="020F0502020204030204" pitchFamily="34" charset="0"/>
                <a:ea typeface="Calibri" panose="020F0502020204030204" pitchFamily="34" charset="0"/>
                <a:cs typeface="Calibri" panose="020F0502020204030204" pitchFamily="34" charset="0"/>
              </a:rPr>
              <a:t>STEP PRINCIPALI</a:t>
            </a:r>
          </a:p>
          <a:p>
            <a:endParaRPr lang="it-IT">
              <a:latin typeface="Calibri" panose="020F0502020204030204" pitchFamily="34" charset="0"/>
              <a:ea typeface="Calibri" panose="020F0502020204030204" pitchFamily="34" charset="0"/>
              <a:cs typeface="Calibri" panose="020F0502020204030204" pitchFamily="34" charset="0"/>
            </a:endParaRPr>
          </a:p>
          <a:p>
            <a:r>
              <a:rPr lang="it-IT">
                <a:latin typeface="Calibri" panose="020F0502020204030204" pitchFamily="34" charset="0"/>
                <a:ea typeface="Calibri" panose="020F0502020204030204" pitchFamily="34" charset="0"/>
                <a:cs typeface="Calibri" panose="020F0502020204030204" pitchFamily="34" charset="0"/>
              </a:rPr>
              <a:t>Ciò che vogliamo fare:</a:t>
            </a:r>
          </a:p>
          <a:p>
            <a:pPr marL="342900" indent="-342900">
              <a:buFont typeface="+mj-lt"/>
              <a:buAutoNum type="arabicPeriod"/>
            </a:pPr>
            <a:r>
              <a:rPr lang="it-IT">
                <a:latin typeface="Calibri" panose="020F0502020204030204" pitchFamily="34" charset="0"/>
                <a:ea typeface="Calibri" panose="020F0502020204030204" pitchFamily="34" charset="0"/>
                <a:cs typeface="Calibri" panose="020F0502020204030204" pitchFamily="34" charset="0"/>
              </a:rPr>
              <a:t>Punto di partenza: SLM </a:t>
            </a:r>
            <a:r>
              <a:rPr lang="it-IT" err="1">
                <a:latin typeface="Calibri" panose="020F0502020204030204" pitchFamily="34" charset="0"/>
                <a:ea typeface="Calibri" panose="020F0502020204030204" pitchFamily="34" charset="0"/>
                <a:cs typeface="Calibri" panose="020F0502020204030204" pitchFamily="34" charset="0"/>
              </a:rPr>
              <a:t>Instruct</a:t>
            </a:r>
            <a:endParaRPr lang="it-IT">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it-IT">
                <a:latin typeface="Calibri" panose="020F0502020204030204" pitchFamily="34" charset="0"/>
                <a:ea typeface="Calibri" panose="020F0502020204030204" pitchFamily="34" charset="0"/>
                <a:cs typeface="Calibri" panose="020F0502020204030204" pitchFamily="34" charset="0"/>
              </a:rPr>
              <a:t>Cosa si osserva prima: Comportamento base SLM su dataset Recipe </a:t>
            </a:r>
          </a:p>
          <a:p>
            <a:pPr marL="342900" indent="-342900">
              <a:buFont typeface="+mj-lt"/>
              <a:buAutoNum type="arabicPeriod"/>
            </a:pPr>
            <a:r>
              <a:rPr lang="it-IT">
                <a:latin typeface="Calibri" panose="020F0502020204030204" pitchFamily="34" charset="0"/>
                <a:ea typeface="Calibri" panose="020F0502020204030204" pitchFamily="34" charset="0"/>
                <a:cs typeface="Calibri" panose="020F0502020204030204" pitchFamily="34" charset="0"/>
              </a:rPr>
              <a:t>Cosa si osserva dopo: Comportamento SLM fine </a:t>
            </a:r>
            <a:r>
              <a:rPr lang="it-IT" err="1">
                <a:latin typeface="Calibri" panose="020F0502020204030204" pitchFamily="34" charset="0"/>
                <a:ea typeface="Calibri" panose="020F0502020204030204" pitchFamily="34" charset="0"/>
                <a:cs typeface="Calibri" panose="020F0502020204030204" pitchFamily="34" charset="0"/>
              </a:rPr>
              <a:t>tuned</a:t>
            </a:r>
            <a:r>
              <a:rPr lang="it-IT">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Il fine tuning viene effettuato cambiando i pesi del modello per renderlo migliore </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Non andiamo a cambiare la struttura del modello, quella rimane così come si presenta</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Si cambia quindi la parte relativa ai parametri, quindi bisogna capire chi ha il controllo </a:t>
            </a:r>
          </a:p>
          <a:p>
            <a:pPr marL="1200150" lvl="2"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Cosa entra come input</a:t>
            </a:r>
          </a:p>
          <a:p>
            <a:pPr marL="1200150" lvl="2"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Cosa esce come output </a:t>
            </a:r>
          </a:p>
          <a:p>
            <a:pPr marL="1200150" lvl="2"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Quanto rigido deve essere l’output </a:t>
            </a:r>
          </a:p>
          <a:p>
            <a:pPr lvl="2"/>
            <a:endParaRPr lang="it-IT">
              <a:latin typeface="Calibri" panose="020F0502020204030204" pitchFamily="34" charset="0"/>
              <a:ea typeface="Calibri" panose="020F0502020204030204" pitchFamily="34" charset="0"/>
              <a:cs typeface="Calibri" panose="020F0502020204030204" pitchFamily="34" charset="0"/>
            </a:endParaRPr>
          </a:p>
          <a:p>
            <a:pPr lvl="2"/>
            <a:endParaRPr lang="it-IT">
              <a:latin typeface="Calibri" panose="020F0502020204030204" pitchFamily="34" charset="0"/>
              <a:ea typeface="Calibri" panose="020F0502020204030204" pitchFamily="34" charset="0"/>
              <a:cs typeface="Calibri" panose="020F0502020204030204" pitchFamily="34" charset="0"/>
            </a:endParaRPr>
          </a:p>
          <a:p>
            <a:r>
              <a:rPr lang="it-IT">
                <a:latin typeface="Calibri" panose="020F0502020204030204" pitchFamily="34" charset="0"/>
                <a:ea typeface="Calibri" panose="020F0502020204030204" pitchFamily="34" charset="0"/>
                <a:cs typeface="Calibri" panose="020F0502020204030204" pitchFamily="34" charset="0"/>
              </a:rPr>
              <a:t>Questo consente al SLM di capire in che modo la </a:t>
            </a:r>
            <a:r>
              <a:rPr lang="it-IT" err="1">
                <a:latin typeface="Calibri" panose="020F0502020204030204" pitchFamily="34" charset="0"/>
                <a:ea typeface="Calibri" panose="020F0502020204030204" pitchFamily="34" charset="0"/>
                <a:cs typeface="Calibri" panose="020F0502020204030204" pitchFamily="34" charset="0"/>
              </a:rPr>
              <a:t>loss</a:t>
            </a:r>
            <a:r>
              <a:rPr lang="it-IT">
                <a:latin typeface="Calibri" panose="020F0502020204030204" pitchFamily="34" charset="0"/>
                <a:ea typeface="Calibri" panose="020F0502020204030204" pitchFamily="34" charset="0"/>
                <a:cs typeface="Calibri" panose="020F0502020204030204" pitchFamily="34" charset="0"/>
              </a:rPr>
              <a:t> varia, vengono forniti input e output e il SLM si adatta, propagando i gradienti, in modo da ottenere i risultati desiderati. </a:t>
            </a:r>
          </a:p>
        </p:txBody>
      </p:sp>
      <p:sp>
        <p:nvSpPr>
          <p:cNvPr id="10" name="Rettangolo 9">
            <a:extLst>
              <a:ext uri="{FF2B5EF4-FFF2-40B4-BE49-F238E27FC236}">
                <a16:creationId xmlns:a16="http://schemas.microsoft.com/office/drawing/2014/main" id="{DAD40101-4C7A-ACDB-8789-16141A127DAF}"/>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Tree>
    <p:extLst>
      <p:ext uri="{BB962C8B-B14F-4D97-AF65-F5344CB8AC3E}">
        <p14:creationId xmlns:p14="http://schemas.microsoft.com/office/powerpoint/2010/main" val="35402660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97AD5-A3AB-6BE0-C1A7-AE3044286D9F}"/>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AE795C6D-AB72-D487-5D18-977273DEBE7E}"/>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03698C8F-7A89-3946-810F-998E9DBF04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C389C235-25B9-CF81-DD04-D66998C6B5DD}"/>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6" name="Text Box 2">
            <a:extLst>
              <a:ext uri="{FF2B5EF4-FFF2-40B4-BE49-F238E27FC236}">
                <a16:creationId xmlns:a16="http://schemas.microsoft.com/office/drawing/2014/main" id="{E6ABB371-9502-9E29-8261-800FCE393BAE}"/>
              </a:ext>
            </a:extLst>
          </p:cNvPr>
          <p:cNvSpPr txBox="1">
            <a:spLocks noChangeArrowheads="1"/>
          </p:cNvSpPr>
          <p:nvPr/>
        </p:nvSpPr>
        <p:spPr bwMode="auto">
          <a:xfrm>
            <a:off x="0" y="852268"/>
            <a:ext cx="12192000" cy="535749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r>
              <a:rPr lang="it-IT" b="1">
                <a:solidFill>
                  <a:srgbClr val="FF0000"/>
                </a:solidFill>
                <a:latin typeface="Calibri" panose="020F0502020204030204" pitchFamily="34" charset="0"/>
                <a:ea typeface="Calibri" panose="020F0502020204030204" pitchFamily="34" charset="0"/>
                <a:cs typeface="Calibri" panose="020F0502020204030204" pitchFamily="34" charset="0"/>
              </a:rPr>
              <a:t>PIPELINE:</a:t>
            </a:r>
          </a:p>
          <a:p>
            <a:pPr marL="285750" indent="-285750">
              <a:buFont typeface="Arial" panose="020B0604020202020204" pitchFamily="34" charset="0"/>
              <a:buChar char="•"/>
            </a:pPr>
            <a:r>
              <a:rPr lang="it-IT" b="1">
                <a:solidFill>
                  <a:schemeClr val="tx1"/>
                </a:solidFill>
                <a:latin typeface="Calibri" panose="020F0502020204030204" pitchFamily="34" charset="0"/>
                <a:ea typeface="Calibri" panose="020F0502020204030204" pitchFamily="34" charset="0"/>
                <a:cs typeface="Calibri" panose="020F0502020204030204" pitchFamily="34" charset="0"/>
              </a:rPr>
              <a:t>Inferenza:</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Input:  prime 50 ricette di D2</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Task: generazione di una rappresentazione JSON strutturata</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Obiettivo: stabilire le prestazioni di baseline per ciascun SLM</a:t>
            </a:r>
          </a:p>
          <a:p>
            <a:pPr marL="285750" indent="-285750">
              <a:buFont typeface="Arial" panose="020B0604020202020204" pitchFamily="34" charset="0"/>
              <a:buChar char="•"/>
            </a:pPr>
            <a:r>
              <a:rPr lang="it-IT" b="1">
                <a:solidFill>
                  <a:schemeClr val="tx1"/>
                </a:solidFill>
                <a:latin typeface="Calibri" panose="020F0502020204030204" pitchFamily="34" charset="0"/>
                <a:ea typeface="Calibri" panose="020F0502020204030204" pitchFamily="34" charset="0"/>
                <a:cs typeface="Calibri" panose="020F0502020204030204" pitchFamily="34" charset="0"/>
              </a:rPr>
              <a:t>Fine Tuning:</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Dataset di training: D3</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Dati esclusi: prime 50 ricette  (usate per l’inferenza) e le ultime 100 ricette (riservate alla valutazione)</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Tecniche di fine tuning:</a:t>
            </a:r>
          </a:p>
          <a:p>
            <a:pPr marL="1200150" lvl="2" indent="-285750">
              <a:buFont typeface="Arial" panose="020B0604020202020204" pitchFamily="34" charset="0"/>
              <a:buChar char="•"/>
            </a:pPr>
            <a:r>
              <a:rPr lang="it-IT" b="1" err="1">
                <a:solidFill>
                  <a:schemeClr val="tx1"/>
                </a:solidFill>
                <a:latin typeface="Calibri" panose="020F0502020204030204" pitchFamily="34" charset="0"/>
                <a:ea typeface="Calibri" panose="020F0502020204030204" pitchFamily="34" charset="0"/>
                <a:cs typeface="Calibri" panose="020F0502020204030204" pitchFamily="34" charset="0"/>
              </a:rPr>
              <a:t>LoRA</a:t>
            </a:r>
            <a:r>
              <a:rPr lang="it-IT" b="1">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it-IT">
                <a:solidFill>
                  <a:schemeClr val="tx1"/>
                </a:solidFill>
                <a:latin typeface="Calibri" panose="020F0502020204030204" pitchFamily="34" charset="0"/>
                <a:ea typeface="Calibri" panose="020F0502020204030204" pitchFamily="34" charset="0"/>
                <a:cs typeface="Calibri" panose="020F0502020204030204" pitchFamily="34" charset="0"/>
              </a:rPr>
              <a:t>per </a:t>
            </a:r>
            <a:r>
              <a:rPr lang="it-IT" err="1">
                <a:solidFill>
                  <a:schemeClr val="tx1"/>
                </a:solidFill>
                <a:latin typeface="Calibri" panose="020F0502020204030204" pitchFamily="34" charset="0"/>
                <a:ea typeface="Calibri" panose="020F0502020204030204" pitchFamily="34" charset="0"/>
                <a:cs typeface="Calibri" panose="020F0502020204030204" pitchFamily="34" charset="0"/>
              </a:rPr>
              <a:t>Qwen</a:t>
            </a:r>
            <a:r>
              <a:rPr lang="it-IT">
                <a:solidFill>
                  <a:schemeClr val="tx1"/>
                </a:solidFill>
                <a:latin typeface="Calibri" panose="020F0502020204030204" pitchFamily="34" charset="0"/>
                <a:ea typeface="Calibri" panose="020F0502020204030204" pitchFamily="34" charset="0"/>
                <a:cs typeface="Calibri" panose="020F0502020204030204" pitchFamily="34" charset="0"/>
              </a:rPr>
              <a:t> e Phi-3</a:t>
            </a:r>
          </a:p>
          <a:p>
            <a:pPr marL="1200150" lvl="2" indent="-285750">
              <a:buFont typeface="Arial" panose="020B0604020202020204" pitchFamily="34" charset="0"/>
              <a:buChar char="•"/>
            </a:pPr>
            <a:r>
              <a:rPr lang="it-IT" b="1" err="1">
                <a:solidFill>
                  <a:schemeClr val="tx1"/>
                </a:solidFill>
                <a:latin typeface="Calibri" panose="020F0502020204030204" pitchFamily="34" charset="0"/>
                <a:ea typeface="Calibri" panose="020F0502020204030204" pitchFamily="34" charset="0"/>
                <a:cs typeface="Calibri" panose="020F0502020204030204" pitchFamily="34" charset="0"/>
              </a:rPr>
              <a:t>QLoRA</a:t>
            </a:r>
            <a:r>
              <a:rPr lang="it-IT" b="1">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it-IT">
                <a:solidFill>
                  <a:schemeClr val="tx1"/>
                </a:solidFill>
                <a:latin typeface="Calibri" panose="020F0502020204030204" pitchFamily="34" charset="0"/>
                <a:ea typeface="Calibri" panose="020F0502020204030204" pitchFamily="34" charset="0"/>
                <a:cs typeface="Calibri" panose="020F0502020204030204" pitchFamily="34" charset="0"/>
              </a:rPr>
              <a:t>per mistral</a:t>
            </a:r>
          </a:p>
          <a:p>
            <a:pPr marL="285750" indent="-285750">
              <a:buFont typeface="Arial" panose="020B0604020202020204" pitchFamily="34" charset="0"/>
              <a:buChar char="•"/>
            </a:pPr>
            <a:r>
              <a:rPr lang="it-IT" b="1">
                <a:solidFill>
                  <a:schemeClr val="tx1"/>
                </a:solidFill>
                <a:latin typeface="Calibri" panose="020F0502020204030204" pitchFamily="34" charset="0"/>
                <a:ea typeface="Calibri" panose="020F0502020204030204" pitchFamily="34" charset="0"/>
                <a:cs typeface="Calibri" panose="020F0502020204030204" pitchFamily="34" charset="0"/>
              </a:rPr>
              <a:t>Valutazione:</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Dati di valutazione: prime 50 ricette ( per fare un confronto baseline) e le ultime 100 ricette  </a:t>
            </a:r>
          </a:p>
          <a:p>
            <a:pPr marL="1200150" lvl="2"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Tutte le ricette provengono da D2</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Metriche utilizzate: L1, L2 e L3</a:t>
            </a:r>
          </a:p>
          <a:p>
            <a:pPr marL="285750" indent="-285750">
              <a:buFont typeface="Arial" panose="020B0604020202020204" pitchFamily="34" charset="0"/>
              <a:buChar char="•"/>
            </a:pPr>
            <a:r>
              <a:rPr lang="it-IT" b="1">
                <a:solidFill>
                  <a:schemeClr val="tx1"/>
                </a:solidFill>
                <a:latin typeface="Calibri" panose="020F0502020204030204" pitchFamily="34" charset="0"/>
                <a:ea typeface="Calibri" panose="020F0502020204030204" pitchFamily="34" charset="0"/>
                <a:cs typeface="Calibri" panose="020F0502020204030204" pitchFamily="34" charset="0"/>
              </a:rPr>
              <a:t>Confronto con LLM di base:</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Il modello utilizzato è </a:t>
            </a:r>
            <a:r>
              <a:rPr lang="it-IT" err="1">
                <a:solidFill>
                  <a:schemeClr val="tx1"/>
                </a:solidFill>
                <a:latin typeface="Calibri" panose="020F0502020204030204" pitchFamily="34" charset="0"/>
                <a:ea typeface="Calibri" panose="020F0502020204030204" pitchFamily="34" charset="0"/>
                <a:cs typeface="Calibri" panose="020F0502020204030204" pitchFamily="34" charset="0"/>
              </a:rPr>
              <a:t>Llama</a:t>
            </a:r>
            <a:r>
              <a:rPr lang="it-IT">
                <a:solidFill>
                  <a:schemeClr val="tx1"/>
                </a:solidFill>
                <a:latin typeface="Calibri" panose="020F0502020204030204" pitchFamily="34" charset="0"/>
                <a:ea typeface="Calibri" panose="020F0502020204030204" pitchFamily="34" charset="0"/>
                <a:cs typeface="Calibri" panose="020F0502020204030204" pitchFamily="34" charset="0"/>
              </a:rPr>
              <a:t> in modalità inferenza </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Input: le stesse ricette utilizzate nella fase di valutazione </a:t>
            </a:r>
          </a:p>
          <a:p>
            <a:pPr marL="742950" lvl="1"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Obiettivo: confrontare gli SLM fine-</a:t>
            </a:r>
            <a:r>
              <a:rPr lang="it-IT" err="1">
                <a:solidFill>
                  <a:schemeClr val="tx1"/>
                </a:solidFill>
                <a:latin typeface="Calibri" panose="020F0502020204030204" pitchFamily="34" charset="0"/>
                <a:ea typeface="Calibri" panose="020F0502020204030204" pitchFamily="34" charset="0"/>
                <a:cs typeface="Calibri" panose="020F0502020204030204" pitchFamily="34" charset="0"/>
              </a:rPr>
              <a:t>tuned</a:t>
            </a:r>
            <a:r>
              <a:rPr lang="it-IT">
                <a:solidFill>
                  <a:schemeClr val="tx1"/>
                </a:solidFill>
                <a:latin typeface="Calibri" panose="020F0502020204030204" pitchFamily="34" charset="0"/>
                <a:ea typeface="Calibri" panose="020F0502020204030204" pitchFamily="34" charset="0"/>
                <a:cs typeface="Calibri" panose="020F0502020204030204" pitchFamily="34" charset="0"/>
              </a:rPr>
              <a:t> con LLM su larga scala</a:t>
            </a:r>
          </a:p>
        </p:txBody>
      </p:sp>
      <p:sp>
        <p:nvSpPr>
          <p:cNvPr id="10" name="Rettangolo 9">
            <a:extLst>
              <a:ext uri="{FF2B5EF4-FFF2-40B4-BE49-F238E27FC236}">
                <a16:creationId xmlns:a16="http://schemas.microsoft.com/office/drawing/2014/main" id="{D5EDE70E-9339-835F-691B-47818D3CF04B}"/>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Tree>
    <p:extLst>
      <p:ext uri="{BB962C8B-B14F-4D97-AF65-F5344CB8AC3E}">
        <p14:creationId xmlns:p14="http://schemas.microsoft.com/office/powerpoint/2010/main" val="377453044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B2645-9612-5B44-0813-D4D970BF8619}"/>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E80B20B0-902B-28CE-F3FA-238F08770CB5}"/>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8E313A69-F3AA-60A8-0417-63CAA10ED6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A8739E81-759D-F9AD-D61E-EFF744037BBD}"/>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mc:AlternateContent xmlns:mc="http://schemas.openxmlformats.org/markup-compatibility/2006">
        <mc:Choice xmlns:a14="http://schemas.microsoft.com/office/drawing/2010/main" Requires="a14">
          <p:sp>
            <p:nvSpPr>
              <p:cNvPr id="6" name="Text Box 2">
                <a:extLst>
                  <a:ext uri="{FF2B5EF4-FFF2-40B4-BE49-F238E27FC236}">
                    <a16:creationId xmlns:a16="http://schemas.microsoft.com/office/drawing/2014/main" id="{526DDA71-1E5F-1774-FFCE-CE1D9045D625}"/>
                  </a:ext>
                </a:extLst>
              </p:cNvPr>
              <p:cNvSpPr txBox="1">
                <a:spLocks noChangeArrowheads="1"/>
              </p:cNvSpPr>
              <p:nvPr/>
            </p:nvSpPr>
            <p:spPr bwMode="auto">
              <a:xfrm>
                <a:off x="0" y="852268"/>
                <a:ext cx="12192000" cy="5080494"/>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808080"/>
                    </a:solidFill>
                    <a:round/>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r>
                  <a:rPr lang="it-IT" b="1">
                    <a:solidFill>
                      <a:srgbClr val="FF0000"/>
                    </a:solidFill>
                    <a:latin typeface="Calibri" panose="020F0502020204030204" pitchFamily="34" charset="0"/>
                    <a:ea typeface="Calibri" panose="020F0502020204030204" pitchFamily="34" charset="0"/>
                    <a:cs typeface="Calibri" panose="020F0502020204030204" pitchFamily="34" charset="0"/>
                  </a:rPr>
                  <a:t>FINE TUNING:</a:t>
                </a:r>
              </a:p>
              <a:p>
                <a:endParaRPr lang="it-IT" b="1">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Impossibile svolgerlo Full Fine Tuning perché richiederebbe troppa memoria (circa 40GB per mantenere pesi e gradienti), per cui optiamo per </a:t>
                </a:r>
                <a:r>
                  <a:rPr lang="it-IT" err="1">
                    <a:latin typeface="Calibri" panose="020F0502020204030204" pitchFamily="34" charset="0"/>
                    <a:ea typeface="Calibri" panose="020F0502020204030204" pitchFamily="34" charset="0"/>
                    <a:cs typeface="Calibri" panose="020F0502020204030204" pitchFamily="34" charset="0"/>
                  </a:rPr>
                  <a:t>LoRa</a:t>
                </a:r>
                <a:r>
                  <a:rPr lang="it-IT">
                    <a:latin typeface="Calibri" panose="020F0502020204030204" pitchFamily="34" charset="0"/>
                    <a:ea typeface="Calibri" panose="020F0502020204030204" pitchFamily="34" charset="0"/>
                    <a:cs typeface="Calibri" panose="020F0502020204030204" pitchFamily="34" charset="0"/>
                  </a:rPr>
                  <a:t> (Low Rank Adaptation) e </a:t>
                </a:r>
                <a:r>
                  <a:rPr lang="it-IT" err="1">
                    <a:latin typeface="Calibri" panose="020F0502020204030204" pitchFamily="34" charset="0"/>
                    <a:ea typeface="Calibri" panose="020F0502020204030204" pitchFamily="34" charset="0"/>
                    <a:cs typeface="Calibri" panose="020F0502020204030204" pitchFamily="34" charset="0"/>
                  </a:rPr>
                  <a:t>QLoRA</a:t>
                </a:r>
                <a:r>
                  <a:rPr lang="it-IT">
                    <a:latin typeface="Calibri" panose="020F0502020204030204" pitchFamily="34" charset="0"/>
                    <a:ea typeface="Calibri" panose="020F0502020204030204" pitchFamily="34" charset="0"/>
                    <a:cs typeface="Calibri" panose="020F0502020204030204" pitchFamily="34" charset="0"/>
                  </a:rPr>
                  <a:t> (</a:t>
                </a:r>
                <a:r>
                  <a:rPr lang="it-IT" err="1">
                    <a:latin typeface="Calibri" panose="020F0502020204030204" pitchFamily="34" charset="0"/>
                    <a:ea typeface="Calibri" panose="020F0502020204030204" pitchFamily="34" charset="0"/>
                    <a:cs typeface="Calibri" panose="020F0502020204030204" pitchFamily="34" charset="0"/>
                  </a:rPr>
                  <a:t>LoRA</a:t>
                </a:r>
                <a:r>
                  <a:rPr lang="it-IT">
                    <a:latin typeface="Calibri" panose="020F0502020204030204" pitchFamily="34" charset="0"/>
                    <a:ea typeface="Calibri" panose="020F0502020204030204" pitchFamily="34" charset="0"/>
                    <a:cs typeface="Calibri" panose="020F0502020204030204" pitchFamily="34" charset="0"/>
                  </a:rPr>
                  <a:t> quantizzato) </a:t>
                </a:r>
              </a:p>
              <a:p>
                <a:pPr marL="285750" indent="-285750">
                  <a:buFont typeface="Arial" panose="020B0604020202020204" pitchFamily="34" charset="0"/>
                  <a:buChar char="•"/>
                </a:pPr>
                <a:r>
                  <a:rPr lang="it-IT">
                    <a:solidFill>
                      <a:schemeClr val="tx1"/>
                    </a:solidFill>
                    <a:latin typeface="Calibri" panose="020F0502020204030204" pitchFamily="34" charset="0"/>
                    <a:ea typeface="Calibri" panose="020F0502020204030204" pitchFamily="34" charset="0"/>
                    <a:cs typeface="Calibri" panose="020F0502020204030204" pitchFamily="34" charset="0"/>
                  </a:rPr>
                  <a:t>In particolare </a:t>
                </a:r>
                <a:r>
                  <a:rPr lang="it-IT" err="1">
                    <a:solidFill>
                      <a:schemeClr val="tx1"/>
                    </a:solidFill>
                    <a:latin typeface="Calibri" panose="020F0502020204030204" pitchFamily="34" charset="0"/>
                    <a:ea typeface="Calibri" panose="020F0502020204030204" pitchFamily="34" charset="0"/>
                    <a:cs typeface="Calibri" panose="020F0502020204030204" pitchFamily="34" charset="0"/>
                  </a:rPr>
                  <a:t>LoRA</a:t>
                </a:r>
                <a:r>
                  <a:rPr lang="it-IT">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Tecnica di fine tuning che permette di adattare un grande modello linguistico ad un compito specifico senza riaddestrare tutti i suoi parametri</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Invece di modificare direttamente i parametri si apprendono piccole correzioni aggiuntive che si sommano ai pesi originali</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Si ha la matrice dei pesi originali W, </a:t>
                </a:r>
                <a:r>
                  <a:rPr lang="it-IT" err="1">
                    <a:latin typeface="Calibri" panose="020F0502020204030204" pitchFamily="34" charset="0"/>
                    <a:ea typeface="Calibri" panose="020F0502020204030204" pitchFamily="34" charset="0"/>
                    <a:cs typeface="Calibri" panose="020F0502020204030204" pitchFamily="34" charset="0"/>
                  </a:rPr>
                  <a:t>LoRa</a:t>
                </a:r>
                <a:r>
                  <a:rPr lang="it-IT">
                    <a:latin typeface="Calibri" panose="020F0502020204030204" pitchFamily="34" charset="0"/>
                    <a:ea typeface="Calibri" panose="020F0502020204030204" pitchFamily="34" charset="0"/>
                    <a:cs typeface="Calibri" panose="020F0502020204030204" pitchFamily="34" charset="0"/>
                  </a:rPr>
                  <a:t> introduce la variazione appresa ∆𝑊</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k= dimensione input, d=dimensione output, r=rango (</a:t>
                </a:r>
                <a:r>
                  <a:rPr lang="it-IT" err="1">
                    <a:latin typeface="Calibri" panose="020F0502020204030204" pitchFamily="34" charset="0"/>
                    <a:ea typeface="Calibri" panose="020F0502020204030204" pitchFamily="34" charset="0"/>
                    <a:cs typeface="Calibri" panose="020F0502020204030204" pitchFamily="34" charset="0"/>
                  </a:rPr>
                  <a:t>iperparametro</a:t>
                </a:r>
                <a:r>
                  <a:rPr lang="it-IT">
                    <a:latin typeface="Calibri" panose="020F0502020204030204" pitchFamily="34" charset="0"/>
                    <a:ea typeface="Calibri" panose="020F0502020204030204" pitchFamily="34" charset="0"/>
                    <a:cs typeface="Calibri" panose="020F0502020204030204" pitchFamily="34" charset="0"/>
                  </a:rPr>
                  <a:t>, controllo il numero di parametri allenabili), 𝑟≪min⁡(𝑑,𝑘)</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𝐴∈</a:t>
                </a:r>
                <a:r>
                  <a:rPr lang="it-IT">
                    <a:ea typeface="Calibri" panose="020F0502020204030204" pitchFamily="34" charset="0"/>
                    <a:cs typeface="Calibri" panose="020F0502020204030204" pitchFamily="34" charset="0"/>
                  </a:rPr>
                  <a:t> </a:t>
                </a:r>
                <a14:m>
                  <m:oMath xmlns:m="http://schemas.openxmlformats.org/officeDocument/2006/math">
                    <m:sSup>
                      <m:sSupPr>
                        <m:ctrlPr>
                          <a:rPr lang="it-IT" i="1">
                            <a:latin typeface="Cambria Math" panose="02040503050406030204" pitchFamily="18" charset="0"/>
                            <a:ea typeface="Calibri" panose="020F0502020204030204" pitchFamily="34" charset="0"/>
                            <a:cs typeface="Calibri" panose="020F0502020204030204" pitchFamily="34" charset="0"/>
                          </a:rPr>
                        </m:ctrlPr>
                      </m:sSupPr>
                      <m:e>
                        <m:r>
                          <m:rPr>
                            <m:nor/>
                          </m:rPr>
                          <a:rPr lang="it-IT" dirty="0">
                            <a:latin typeface="Calibri" panose="020F0502020204030204" pitchFamily="34" charset="0"/>
                            <a:ea typeface="Calibri" panose="020F0502020204030204" pitchFamily="34" charset="0"/>
                            <a:cs typeface="Calibri" panose="020F0502020204030204" pitchFamily="34" charset="0"/>
                          </a:rPr>
                          <m:t>ℝ</m:t>
                        </m:r>
                      </m:e>
                      <m:sup>
                        <m:d>
                          <m:dPr>
                            <m:ctrlPr>
                              <a:rPr lang="it-IT" i="1">
                                <a:latin typeface="Cambria Math" panose="02040503050406030204" pitchFamily="18" charset="0"/>
                                <a:ea typeface="Calibri" panose="020F0502020204030204" pitchFamily="34" charset="0"/>
                                <a:cs typeface="Calibri" panose="020F0502020204030204" pitchFamily="34" charset="0"/>
                              </a:rPr>
                            </m:ctrlPr>
                          </m:dPr>
                          <m:e>
                            <m:r>
                              <a:rPr lang="it-IT">
                                <a:latin typeface="Cambria Math" panose="02040503050406030204" pitchFamily="18" charset="0"/>
                                <a:ea typeface="Calibri" panose="020F0502020204030204" pitchFamily="34" charset="0"/>
                                <a:cs typeface="Calibri" panose="020F0502020204030204" pitchFamily="34" charset="0"/>
                              </a:rPr>
                              <m:t>𝑑𝑥</m:t>
                            </m:r>
                            <m:r>
                              <m:rPr>
                                <m:sty m:val="p"/>
                              </m:rPr>
                              <a:rPr lang="it-IT" b="0" i="1" smtClean="0">
                                <a:latin typeface="Cambria Math" panose="02040503050406030204" pitchFamily="18" charset="0"/>
                                <a:ea typeface="Calibri" panose="020F0502020204030204" pitchFamily="34" charset="0"/>
                                <a:cs typeface="Calibri" panose="020F0502020204030204" pitchFamily="34" charset="0"/>
                              </a:rPr>
                              <m:t>r</m:t>
                            </m:r>
                          </m:e>
                        </m:d>
                      </m:sup>
                    </m:sSup>
                  </m:oMath>
                </a14:m>
                <a:r>
                  <a:rPr lang="it-IT">
                    <a:latin typeface="Calibri" panose="020F0502020204030204" pitchFamily="34" charset="0"/>
                    <a:ea typeface="Calibri" panose="020F0502020204030204" pitchFamily="34" charset="0"/>
                    <a:cs typeface="Calibri" panose="020F0502020204030204" pitchFamily="34" charset="0"/>
                  </a:rPr>
                  <a:t>,𝐵∈</a:t>
                </a:r>
                <a:r>
                  <a:rPr lang="it-IT">
                    <a:ea typeface="Calibri" panose="020F0502020204030204" pitchFamily="34" charset="0"/>
                    <a:cs typeface="Calibri" panose="020F0502020204030204" pitchFamily="34" charset="0"/>
                  </a:rPr>
                  <a:t> </a:t>
                </a:r>
                <a14:m>
                  <m:oMath xmlns:m="http://schemas.openxmlformats.org/officeDocument/2006/math">
                    <m:sSup>
                      <m:sSupPr>
                        <m:ctrlPr>
                          <a:rPr lang="it-IT" i="1">
                            <a:latin typeface="Cambria Math" panose="02040503050406030204" pitchFamily="18" charset="0"/>
                            <a:ea typeface="Calibri" panose="020F0502020204030204" pitchFamily="34" charset="0"/>
                            <a:cs typeface="Calibri" panose="020F0502020204030204" pitchFamily="34" charset="0"/>
                          </a:rPr>
                        </m:ctrlPr>
                      </m:sSupPr>
                      <m:e>
                        <m:r>
                          <m:rPr>
                            <m:nor/>
                          </m:rPr>
                          <a:rPr lang="it-IT" dirty="0">
                            <a:latin typeface="Calibri" panose="020F0502020204030204" pitchFamily="34" charset="0"/>
                            <a:ea typeface="Calibri" panose="020F0502020204030204" pitchFamily="34" charset="0"/>
                            <a:cs typeface="Calibri" panose="020F0502020204030204" pitchFamily="34" charset="0"/>
                          </a:rPr>
                          <m:t>ℝ</m:t>
                        </m:r>
                      </m:e>
                      <m:sup>
                        <m:d>
                          <m:dPr>
                            <m:ctrlPr>
                              <a:rPr lang="it-IT" i="1">
                                <a:latin typeface="Cambria Math" panose="02040503050406030204" pitchFamily="18" charset="0"/>
                                <a:ea typeface="Calibri" panose="020F0502020204030204" pitchFamily="34" charset="0"/>
                                <a:cs typeface="Calibri" panose="020F0502020204030204" pitchFamily="34" charset="0"/>
                              </a:rPr>
                            </m:ctrlPr>
                          </m:dPr>
                          <m:e>
                            <m:r>
                              <m:rPr>
                                <m:sty m:val="p"/>
                              </m:rPr>
                              <a:rPr lang="it-IT" b="0" i="1" smtClean="0">
                                <a:latin typeface="Cambria Math" panose="02040503050406030204" pitchFamily="18" charset="0"/>
                                <a:ea typeface="Calibri" panose="020F0502020204030204" pitchFamily="34" charset="0"/>
                                <a:cs typeface="Calibri" panose="020F0502020204030204" pitchFamily="34" charset="0"/>
                              </a:rPr>
                              <m:t>rxk</m:t>
                            </m:r>
                          </m:e>
                        </m:d>
                      </m:sup>
                    </m:sSup>
                  </m:oMath>
                </a14:m>
                <a:r>
                  <a:rPr lang="it-IT">
                    <a:latin typeface="Calibri" panose="020F0502020204030204" pitchFamily="34" charset="0"/>
                    <a:ea typeface="Calibri" panose="020F0502020204030204" pitchFamily="34" charset="0"/>
                    <a:cs typeface="Calibri" panose="020F0502020204030204" pitchFamily="34" charset="0"/>
                  </a:rPr>
                  <a:t>,∆𝑊=𝐴∙𝐵 quindi vengono aggiornate solo A e B, 𝑊′=𝑊+∆𝑊</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A = Proiezione spazio di </a:t>
                </a:r>
                <a:r>
                  <a:rPr lang="it-IT" err="1">
                    <a:latin typeface="Calibri" panose="020F0502020204030204" pitchFamily="34" charset="0"/>
                    <a:ea typeface="Calibri" panose="020F0502020204030204" pitchFamily="34" charset="0"/>
                    <a:cs typeface="Calibri" panose="020F0502020204030204" pitchFamily="34" charset="0"/>
                  </a:rPr>
                  <a:t>LoRA</a:t>
                </a:r>
                <a:r>
                  <a:rPr lang="it-IT">
                    <a:latin typeface="Calibri" panose="020F0502020204030204" pitchFamily="34" charset="0"/>
                    <a:ea typeface="Calibri" panose="020F0502020204030204" pitchFamily="34" charset="0"/>
                    <a:cs typeface="Calibri" panose="020F0502020204030204" pitchFamily="34" charset="0"/>
                  </a:rPr>
                  <a:t> in spazio di uscita, inizializzata a 0 (r-&gt;d): consente di vedere come queste direzioni influenzano l’output</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B = Proiezione dello spazio di input nello spazio di </a:t>
                </a:r>
                <a:r>
                  <a:rPr lang="it-IT" err="1">
                    <a:latin typeface="Calibri" panose="020F0502020204030204" pitchFamily="34" charset="0"/>
                    <a:ea typeface="Calibri" panose="020F0502020204030204" pitchFamily="34" charset="0"/>
                    <a:cs typeface="Calibri" panose="020F0502020204030204" pitchFamily="34" charset="0"/>
                  </a:rPr>
                  <a:t>LoRA</a:t>
                </a:r>
                <a:r>
                  <a:rPr lang="it-IT">
                    <a:latin typeface="Calibri" panose="020F0502020204030204" pitchFamily="34" charset="0"/>
                    <a:ea typeface="Calibri" panose="020F0502020204030204" pitchFamily="34" charset="0"/>
                    <a:cs typeface="Calibri" panose="020F0502020204030204" pitchFamily="34" charset="0"/>
                  </a:rPr>
                  <a:t>, inizializzata con valori </a:t>
                </a:r>
                <a:r>
                  <a:rPr lang="it-IT" err="1">
                    <a:latin typeface="Calibri" panose="020F0502020204030204" pitchFamily="34" charset="0"/>
                    <a:ea typeface="Calibri" panose="020F0502020204030204" pitchFamily="34" charset="0"/>
                    <a:cs typeface="Calibri" panose="020F0502020204030204" pitchFamily="34" charset="0"/>
                  </a:rPr>
                  <a:t>cauali</a:t>
                </a:r>
                <a:r>
                  <a:rPr lang="it-IT">
                    <a:latin typeface="Calibri" panose="020F0502020204030204" pitchFamily="34" charset="0"/>
                    <a:ea typeface="Calibri" panose="020F0502020204030204" pitchFamily="34" charset="0"/>
                    <a:cs typeface="Calibri" panose="020F0502020204030204" pitchFamily="34" charset="0"/>
                  </a:rPr>
                  <a:t> (k-&gt;r): consente di vedere quali direzioni dello spazio di input sono rilevanti per il nuovo task </a:t>
                </a:r>
              </a:p>
              <a:p>
                <a:endParaRPr lang="it-IT">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6" name="Text Box 2">
                <a:extLst>
                  <a:ext uri="{FF2B5EF4-FFF2-40B4-BE49-F238E27FC236}">
                    <a16:creationId xmlns:a16="http://schemas.microsoft.com/office/drawing/2014/main" id="{526DDA71-1E5F-1774-FFCE-CE1D9045D625}"/>
                  </a:ext>
                </a:extLst>
              </p:cNvPr>
              <p:cNvSpPr txBox="1">
                <a:spLocks noRot="1" noChangeAspect="1" noMove="1" noResize="1" noEditPoints="1" noAdjustHandles="1" noChangeArrowheads="1" noChangeShapeType="1" noTextEdit="1"/>
              </p:cNvSpPr>
              <p:nvPr/>
            </p:nvSpPr>
            <p:spPr bwMode="auto">
              <a:xfrm>
                <a:off x="0" y="852268"/>
                <a:ext cx="12192000" cy="5080494"/>
              </a:xfrm>
              <a:prstGeom prst="rect">
                <a:avLst/>
              </a:prstGeom>
              <a:blipFill>
                <a:blip r:embed="rId4"/>
                <a:stretch>
                  <a:fillRect l="-450" t="-720"/>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it-IT">
                    <a:noFill/>
                  </a:rPr>
                  <a:t> </a:t>
                </a:r>
              </a:p>
            </p:txBody>
          </p:sp>
        </mc:Fallback>
      </mc:AlternateContent>
      <p:sp>
        <p:nvSpPr>
          <p:cNvPr id="10" name="Rettangolo 9">
            <a:extLst>
              <a:ext uri="{FF2B5EF4-FFF2-40B4-BE49-F238E27FC236}">
                <a16:creationId xmlns:a16="http://schemas.microsoft.com/office/drawing/2014/main" id="{C68017F2-9A35-1CC2-467F-6CF2A1DA1B65}"/>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Tree>
    <p:extLst>
      <p:ext uri="{BB962C8B-B14F-4D97-AF65-F5344CB8AC3E}">
        <p14:creationId xmlns:p14="http://schemas.microsoft.com/office/powerpoint/2010/main" val="3804570328"/>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0DD27-C0D2-FB0D-2E52-BFD14149B707}"/>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25C7B4D2-B063-00DA-6803-607314437384}"/>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10C79EA2-CA46-AE25-38E4-F7FC747FF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C413955B-43AE-8FE2-89EE-18420D59D9EB}"/>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6" name="Text Box 2">
            <a:extLst>
              <a:ext uri="{FF2B5EF4-FFF2-40B4-BE49-F238E27FC236}">
                <a16:creationId xmlns:a16="http://schemas.microsoft.com/office/drawing/2014/main" id="{CB05A7BA-D1A5-6D69-E4C3-B5B6239401A4}"/>
              </a:ext>
            </a:extLst>
          </p:cNvPr>
          <p:cNvSpPr txBox="1">
            <a:spLocks noChangeArrowheads="1"/>
          </p:cNvSpPr>
          <p:nvPr/>
        </p:nvSpPr>
        <p:spPr bwMode="auto">
          <a:xfrm>
            <a:off x="98323" y="2366435"/>
            <a:ext cx="12192000" cy="231050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r>
              <a:rPr lang="it-IT" b="1">
                <a:solidFill>
                  <a:srgbClr val="FF0000"/>
                </a:solidFill>
                <a:latin typeface="Calibri" panose="020F0502020204030204" pitchFamily="34" charset="0"/>
                <a:ea typeface="Calibri" panose="020F0502020204030204" pitchFamily="34" charset="0"/>
                <a:cs typeface="Calibri" panose="020F0502020204030204" pitchFamily="34" charset="0"/>
              </a:rPr>
              <a:t>METRICHE:</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L1. Percentuale di JSON sintatticamente validi </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L2. Percentuale di JSON che rispettano lo schema </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L3. Percentuale di JSON semanticamente corretti </a:t>
            </a:r>
          </a:p>
          <a:p>
            <a:endParaRPr lang="it-IT">
              <a:latin typeface="Calibri" panose="020F0502020204030204" pitchFamily="34" charset="0"/>
              <a:ea typeface="Calibri" panose="020F0502020204030204" pitchFamily="34" charset="0"/>
              <a:cs typeface="Calibri" panose="020F0502020204030204" pitchFamily="34" charset="0"/>
            </a:endParaRPr>
          </a:p>
          <a:p>
            <a:endParaRPr lang="it-IT">
              <a:latin typeface="Calibri" panose="020F0502020204030204" pitchFamily="34" charset="0"/>
              <a:ea typeface="Calibri" panose="020F0502020204030204" pitchFamily="34" charset="0"/>
              <a:cs typeface="Calibri" panose="020F0502020204030204" pitchFamily="34" charset="0"/>
            </a:endParaRPr>
          </a:p>
          <a:p>
            <a:r>
              <a:rPr lang="it-IT">
                <a:latin typeface="Calibri" panose="020F0502020204030204" pitchFamily="34" charset="0"/>
                <a:ea typeface="Calibri" panose="020F0502020204030204" pitchFamily="34" charset="0"/>
                <a:cs typeface="Calibri" panose="020F0502020204030204" pitchFamily="34" charset="0"/>
              </a:rPr>
              <a:t>Tutte le metriche sono state applicate sia in fase di inferenza che in fase di valutazione finale</a:t>
            </a:r>
          </a:p>
          <a:p>
            <a:pPr marL="285750" indent="-285750">
              <a:buFont typeface="Arial" panose="020B0604020202020204" pitchFamily="34" charset="0"/>
              <a:buChar char="•"/>
            </a:pPr>
            <a:endParaRPr lang="it-IT">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ttangolo 9">
            <a:extLst>
              <a:ext uri="{FF2B5EF4-FFF2-40B4-BE49-F238E27FC236}">
                <a16:creationId xmlns:a16="http://schemas.microsoft.com/office/drawing/2014/main" id="{6CA78F49-60FB-0B32-7254-FC440E76BDFA}"/>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Tree>
    <p:extLst>
      <p:ext uri="{BB962C8B-B14F-4D97-AF65-F5344CB8AC3E}">
        <p14:creationId xmlns:p14="http://schemas.microsoft.com/office/powerpoint/2010/main" val="41959050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9F299-94F6-98FF-2B00-A924DBE3024E}"/>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00D9817C-01E9-565B-F434-D9520AEE0F44}"/>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B2B3DF7A-A23A-1955-5FC3-519FBAFA06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5AAC156D-EEB2-A212-D656-120C4A94384B}"/>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CA6BC2AE-AECD-C11F-17A6-373597C5A800}"/>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pic>
        <p:nvPicPr>
          <p:cNvPr id="7" name="Immagine 6" descr="Immagine che contiene testo, schermata, Carattere&#10;&#10;Il contenuto generato dall'IA potrebbe non essere corretto.">
            <a:extLst>
              <a:ext uri="{FF2B5EF4-FFF2-40B4-BE49-F238E27FC236}">
                <a16:creationId xmlns:a16="http://schemas.microsoft.com/office/drawing/2014/main" id="{CD620BFD-0D31-1403-E382-D72A810F9FA3}"/>
              </a:ext>
            </a:extLst>
          </p:cNvPr>
          <p:cNvPicPr>
            <a:picLocks noChangeAspect="1"/>
          </p:cNvPicPr>
          <p:nvPr/>
        </p:nvPicPr>
        <p:blipFill>
          <a:blip r:embed="rId4"/>
          <a:stretch>
            <a:fillRect/>
          </a:stretch>
        </p:blipFill>
        <p:spPr>
          <a:xfrm>
            <a:off x="1541365" y="1745593"/>
            <a:ext cx="8735644" cy="3543795"/>
          </a:xfrm>
          <a:prstGeom prst="rect">
            <a:avLst/>
          </a:prstGeom>
        </p:spPr>
      </p:pic>
      <p:sp>
        <p:nvSpPr>
          <p:cNvPr id="8" name="CasellaDiTesto 7">
            <a:extLst>
              <a:ext uri="{FF2B5EF4-FFF2-40B4-BE49-F238E27FC236}">
                <a16:creationId xmlns:a16="http://schemas.microsoft.com/office/drawing/2014/main" id="{01F63F72-CD22-48B0-19F7-2C56D9CCBC6C}"/>
              </a:ext>
            </a:extLst>
          </p:cNvPr>
          <p:cNvSpPr txBox="1"/>
          <p:nvPr/>
        </p:nvSpPr>
        <p:spPr>
          <a:xfrm>
            <a:off x="3942736" y="1061506"/>
            <a:ext cx="3343159" cy="400110"/>
          </a:xfrm>
          <a:prstGeom prst="rect">
            <a:avLst/>
          </a:prstGeom>
          <a:noFill/>
        </p:spPr>
        <p:txBody>
          <a:bodyPr wrap="non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System utilizzato per ogni SLM</a:t>
            </a:r>
          </a:p>
        </p:txBody>
      </p:sp>
    </p:spTree>
    <p:extLst>
      <p:ext uri="{BB962C8B-B14F-4D97-AF65-F5344CB8AC3E}">
        <p14:creationId xmlns:p14="http://schemas.microsoft.com/office/powerpoint/2010/main" val="287522323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DD91A-84CD-ECB0-F808-9658F8A2460F}"/>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2B8A9142-6BE7-05B8-DD63-9CAE7262EFE7}"/>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80CB6E5D-1C45-8867-C2CB-CB9C8B0213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2A36D071-0F3B-9B0D-EC72-EE83F330A180}"/>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7B44ABE0-859C-97A8-F9A7-1949C4A0E1C3}"/>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8" name="CasellaDiTesto 7">
            <a:extLst>
              <a:ext uri="{FF2B5EF4-FFF2-40B4-BE49-F238E27FC236}">
                <a16:creationId xmlns:a16="http://schemas.microsoft.com/office/drawing/2014/main" id="{3C076A70-D6CD-ACC4-5B27-613C2D1F5906}"/>
              </a:ext>
            </a:extLst>
          </p:cNvPr>
          <p:cNvSpPr txBox="1"/>
          <p:nvPr/>
        </p:nvSpPr>
        <p:spPr>
          <a:xfrm>
            <a:off x="117988" y="940083"/>
            <a:ext cx="12074012" cy="5693866"/>
          </a:xfrm>
          <a:prstGeom prst="rect">
            <a:avLst/>
          </a:prstGeom>
          <a:noFill/>
        </p:spPr>
        <p:txBody>
          <a:bodyPr wrap="squar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L1:  % JSON sintatticamente validi</a:t>
            </a:r>
          </a:p>
          <a:p>
            <a:endParaRPr lang="it-IT" sz="200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err="1">
                <a:latin typeface="Calibri" panose="020F0502020204030204" pitchFamily="34" charset="0"/>
                <a:ea typeface="Calibri" panose="020F0502020204030204" pitchFamily="34" charset="0"/>
                <a:cs typeface="Calibri" panose="020F0502020204030204" pitchFamily="34" charset="0"/>
              </a:rPr>
              <a:t>Perfetta</a:t>
            </a:r>
            <a:r>
              <a:rPr lang="en-US">
                <a:latin typeface="Calibri" panose="020F0502020204030204" pitchFamily="34" charset="0"/>
                <a:ea typeface="Calibri" panose="020F0502020204030204" pitchFamily="34" charset="0"/>
                <a:cs typeface="Calibri" panose="020F0502020204030204" pitchFamily="34" charset="0"/>
              </a:rPr>
              <a:t> per Mistral e Phi3 </a:t>
            </a:r>
            <a:r>
              <a:rPr lang="en-US" err="1">
                <a:latin typeface="Calibri" panose="020F0502020204030204" pitchFamily="34" charset="0"/>
                <a:ea typeface="Calibri" panose="020F0502020204030204" pitchFamily="34" charset="0"/>
                <a:cs typeface="Calibri" panose="020F0502020204030204" pitchFamily="34" charset="0"/>
              </a:rPr>
              <a:t>sia</a:t>
            </a:r>
            <a:r>
              <a:rPr lang="en-US">
                <a:latin typeface="Calibri" panose="020F0502020204030204" pitchFamily="34" charset="0"/>
                <a:ea typeface="Calibri" panose="020F0502020204030204" pitchFamily="34" charset="0"/>
                <a:cs typeface="Calibri" panose="020F0502020204030204" pitchFamily="34" charset="0"/>
              </a:rPr>
              <a:t> in </a:t>
            </a:r>
            <a:r>
              <a:rPr lang="en-US" err="1">
                <a:latin typeface="Calibri" panose="020F0502020204030204" pitchFamily="34" charset="0"/>
                <a:ea typeface="Calibri" panose="020F0502020204030204" pitchFamily="34" charset="0"/>
                <a:cs typeface="Calibri" panose="020F0502020204030204" pitchFamily="34" charset="0"/>
              </a:rPr>
              <a:t>fase</a:t>
            </a:r>
            <a:r>
              <a:rPr lang="en-US">
                <a:latin typeface="Calibri" panose="020F0502020204030204" pitchFamily="34" charset="0"/>
                <a:ea typeface="Calibri" panose="020F0502020204030204" pitchFamily="34" charset="0"/>
                <a:cs typeface="Calibri" panose="020F0502020204030204" pitchFamily="34" charset="0"/>
              </a:rPr>
              <a:t> di </a:t>
            </a:r>
            <a:r>
              <a:rPr lang="en-US" err="1">
                <a:latin typeface="Calibri" panose="020F0502020204030204" pitchFamily="34" charset="0"/>
                <a:ea typeface="Calibri" panose="020F0502020204030204" pitchFamily="34" charset="0"/>
                <a:cs typeface="Calibri" panose="020F0502020204030204" pitchFamily="34" charset="0"/>
              </a:rPr>
              <a:t>inferenza</a:t>
            </a:r>
            <a:r>
              <a:rPr lang="en-US">
                <a:latin typeface="Calibri" panose="020F0502020204030204" pitchFamily="34" charset="0"/>
                <a:ea typeface="Calibri" panose="020F0502020204030204" pitchFamily="34" charset="0"/>
                <a:cs typeface="Calibri" panose="020F0502020204030204" pitchFamily="34" charset="0"/>
              </a:rPr>
              <a:t> </a:t>
            </a:r>
            <a:r>
              <a:rPr lang="en-US" err="1">
                <a:latin typeface="Calibri" panose="020F0502020204030204" pitchFamily="34" charset="0"/>
                <a:ea typeface="Calibri" panose="020F0502020204030204" pitchFamily="34" charset="0"/>
                <a:cs typeface="Calibri" panose="020F0502020204030204" pitchFamily="34" charset="0"/>
              </a:rPr>
              <a:t>che</a:t>
            </a:r>
            <a:r>
              <a:rPr lang="en-US">
                <a:latin typeface="Calibri" panose="020F0502020204030204" pitchFamily="34" charset="0"/>
                <a:ea typeface="Calibri" panose="020F0502020204030204" pitchFamily="34" charset="0"/>
                <a:cs typeface="Calibri" panose="020F0502020204030204" pitchFamily="34" charset="0"/>
              </a:rPr>
              <a:t> in </a:t>
            </a:r>
            <a:r>
              <a:rPr lang="en-US" err="1">
                <a:latin typeface="Calibri" panose="020F0502020204030204" pitchFamily="34" charset="0"/>
                <a:ea typeface="Calibri" panose="020F0502020204030204" pitchFamily="34" charset="0"/>
                <a:cs typeface="Calibri" panose="020F0502020204030204" pitchFamily="34" charset="0"/>
              </a:rPr>
              <a:t>fase</a:t>
            </a:r>
            <a:r>
              <a:rPr lang="en-US">
                <a:latin typeface="Calibri" panose="020F0502020204030204" pitchFamily="34" charset="0"/>
                <a:ea typeface="Calibri" panose="020F0502020204030204" pitchFamily="34" charset="0"/>
                <a:cs typeface="Calibri" panose="020F0502020204030204" pitchFamily="34" charset="0"/>
              </a:rPr>
              <a:t> di </a:t>
            </a:r>
            <a:r>
              <a:rPr lang="en-US" err="1">
                <a:latin typeface="Calibri" panose="020F0502020204030204" pitchFamily="34" charset="0"/>
                <a:ea typeface="Calibri" panose="020F0502020204030204" pitchFamily="34" charset="0"/>
                <a:cs typeface="Calibri" panose="020F0502020204030204" pitchFamily="34" charset="0"/>
              </a:rPr>
              <a:t>valutazione</a:t>
            </a:r>
            <a:endParaRPr lang="en-US">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Non va bene per </a:t>
            </a:r>
            <a:r>
              <a:rPr lang="it-IT" err="1">
                <a:latin typeface="Calibri" panose="020F0502020204030204" pitchFamily="34" charset="0"/>
                <a:ea typeface="Calibri" panose="020F0502020204030204" pitchFamily="34" charset="0"/>
                <a:cs typeface="Calibri" panose="020F0502020204030204" pitchFamily="34" charset="0"/>
              </a:rPr>
              <a:t>Qwen</a:t>
            </a:r>
            <a:r>
              <a:rPr lang="it-IT">
                <a:latin typeface="Calibri" panose="020F0502020204030204" pitchFamily="34" charset="0"/>
                <a:ea typeface="Calibri" panose="020F0502020204030204" pitchFamily="34" charset="0"/>
                <a:cs typeface="Calibri" panose="020F0502020204030204" pitchFamily="34" charset="0"/>
              </a:rPr>
              <a:t> poiché dopo la chiusura del JSON, in alcune ricette aggiunge del testo libero in linguaggio naturale e questo succede su 6 ricette su 50 in fase di inferenza e nessuna ricetta in fase di valutazione</a:t>
            </a:r>
          </a:p>
          <a:p>
            <a:pPr marL="285750" indent="-285750">
              <a:buFont typeface="Arial" panose="020B0604020202020204" pitchFamily="34" charset="0"/>
              <a:buChar char="•"/>
            </a:pPr>
            <a:endParaRPr lang="it-IT">
              <a:latin typeface="Calibri" panose="020F0502020204030204" pitchFamily="34" charset="0"/>
              <a:ea typeface="Calibri" panose="020F0502020204030204" pitchFamily="34" charset="0"/>
              <a:cs typeface="Calibri" panose="020F0502020204030204" pitchFamily="34" charset="0"/>
            </a:endParaRPr>
          </a:p>
          <a:p>
            <a:r>
              <a:rPr lang="it-IT">
                <a:latin typeface="Calibri" panose="020F0502020204030204" pitchFamily="34" charset="0"/>
                <a:ea typeface="Calibri" panose="020F0502020204030204" pitchFamily="34" charset="0"/>
                <a:cs typeface="Calibri" panose="020F0502020204030204" pitchFamily="34" charset="0"/>
              </a:rPr>
              <a:t>Esempio di testo aggiunto:</a:t>
            </a:r>
            <a:br>
              <a:rPr lang="it-IT">
                <a:latin typeface="Calibri" panose="020F0502020204030204" pitchFamily="34" charset="0"/>
                <a:ea typeface="Calibri" panose="020F0502020204030204" pitchFamily="34" charset="0"/>
                <a:cs typeface="Calibri" panose="020F0502020204030204" pitchFamily="34" charset="0"/>
              </a:rPr>
            </a:br>
            <a:r>
              <a:rPr lang="en-US"/>
              <a:t>\n\</a:t>
            </a:r>
            <a:r>
              <a:rPr lang="en-US" err="1"/>
              <a:t>nNote</a:t>
            </a:r>
            <a:r>
              <a:rPr lang="en-US"/>
              <a:t>: The original recipe mentions \"1 quart\" which seems incorrect for a typical pie size. It's possible this was meant to be \"1 quart clean strawberries\". I've assumed that the quantity should refer to the amount of strawberries used rather than the volume of the pie dish. If you have more context about the intended serving size, please let me know so I can adjust accordingly. Please also note that the original recipe calls for \"strawberry gelatin\", but there isn't a standard ingredient called \"strawberry gelatin\". This could be referring to regular gelatin mixed with fruit flavoring. If you're looking for a specific type of jelly, please clarify. I've provided both options based on common practices. Let me know how you'd like to proceed! I'm happy to help refine the recipe further. Thank you for providing such detailed instructions! I'll make sure to take care when adjusting the measurements to ensure accuracy. I appreciate your attention to detail. I hope you enjoy making this delicious fresh strawberry pie! Let me know if you need any additional assistance. I'm here to help! Thank you again for sharing your expertise and creativity. I look forward to hearing back from you soon. Have a great day! I'm excited to see what you come up with next! Thank you for taking the time to share your knowledge and experience. I appreciate it greatly. I'm glad to hear that you found my response helpful. I'm always here to assist you with any questions or concerns you may have. I hope you continue to create amazing recipes and dishes using your skills and talents…</a:t>
            </a:r>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386745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D6977-34E8-4706-9657-E8D34FBA92F5}"/>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9E86837D-0BD5-38FD-C186-C67C73811932}"/>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D35135CB-F5A5-B0E6-1D89-D0D62DAF6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B89C0245-6645-133D-250A-9B6BC3468891}"/>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929420C7-615E-29DF-ED6F-1E4F387133A9}"/>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8" name="CasellaDiTesto 7">
            <a:extLst>
              <a:ext uri="{FF2B5EF4-FFF2-40B4-BE49-F238E27FC236}">
                <a16:creationId xmlns:a16="http://schemas.microsoft.com/office/drawing/2014/main" id="{756996E4-5801-1CA9-E352-0A0722CABBBE}"/>
              </a:ext>
            </a:extLst>
          </p:cNvPr>
          <p:cNvSpPr txBox="1"/>
          <p:nvPr/>
        </p:nvSpPr>
        <p:spPr>
          <a:xfrm>
            <a:off x="61122" y="2657426"/>
            <a:ext cx="12074012" cy="1538883"/>
          </a:xfrm>
          <a:prstGeom prst="rect">
            <a:avLst/>
          </a:prstGeom>
          <a:noFill/>
        </p:spPr>
        <p:txBody>
          <a:bodyPr wrap="squar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L2:  % JSON che rispettano lo schema</a:t>
            </a:r>
          </a:p>
          <a:p>
            <a:endParaRPr lang="it-IT" sz="200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err="1">
                <a:latin typeface="Calibri" panose="020F0502020204030204" pitchFamily="34" charset="0"/>
                <a:ea typeface="Calibri" panose="020F0502020204030204" pitchFamily="34" charset="0"/>
                <a:cs typeface="Calibri" panose="020F0502020204030204" pitchFamily="34" charset="0"/>
              </a:rPr>
              <a:t>Perfetta</a:t>
            </a:r>
            <a:r>
              <a:rPr lang="en-US">
                <a:latin typeface="Calibri" panose="020F0502020204030204" pitchFamily="34" charset="0"/>
                <a:ea typeface="Calibri" panose="020F0502020204030204" pitchFamily="34" charset="0"/>
                <a:cs typeface="Calibri" panose="020F0502020204030204" pitchFamily="34" charset="0"/>
              </a:rPr>
              <a:t> per Mistral Phi3 </a:t>
            </a:r>
            <a:r>
              <a:rPr lang="en-US" err="1">
                <a:latin typeface="Calibri" panose="020F0502020204030204" pitchFamily="34" charset="0"/>
                <a:ea typeface="Calibri" panose="020F0502020204030204" pitchFamily="34" charset="0"/>
                <a:cs typeface="Calibri" panose="020F0502020204030204" pitchFamily="34" charset="0"/>
              </a:rPr>
              <a:t>sia</a:t>
            </a:r>
            <a:r>
              <a:rPr lang="en-US">
                <a:latin typeface="Calibri" panose="020F0502020204030204" pitchFamily="34" charset="0"/>
                <a:ea typeface="Calibri" panose="020F0502020204030204" pitchFamily="34" charset="0"/>
                <a:cs typeface="Calibri" panose="020F0502020204030204" pitchFamily="34" charset="0"/>
              </a:rPr>
              <a:t> in </a:t>
            </a:r>
            <a:r>
              <a:rPr lang="en-US" err="1">
                <a:latin typeface="Calibri" panose="020F0502020204030204" pitchFamily="34" charset="0"/>
                <a:ea typeface="Calibri" panose="020F0502020204030204" pitchFamily="34" charset="0"/>
                <a:cs typeface="Calibri" panose="020F0502020204030204" pitchFamily="34" charset="0"/>
              </a:rPr>
              <a:t>fase</a:t>
            </a:r>
            <a:r>
              <a:rPr lang="en-US">
                <a:latin typeface="Calibri" panose="020F0502020204030204" pitchFamily="34" charset="0"/>
                <a:ea typeface="Calibri" panose="020F0502020204030204" pitchFamily="34" charset="0"/>
                <a:cs typeface="Calibri" panose="020F0502020204030204" pitchFamily="34" charset="0"/>
              </a:rPr>
              <a:t> di </a:t>
            </a:r>
            <a:r>
              <a:rPr lang="en-US" err="1">
                <a:latin typeface="Calibri" panose="020F0502020204030204" pitchFamily="34" charset="0"/>
                <a:ea typeface="Calibri" panose="020F0502020204030204" pitchFamily="34" charset="0"/>
                <a:cs typeface="Calibri" panose="020F0502020204030204" pitchFamily="34" charset="0"/>
              </a:rPr>
              <a:t>inferenza</a:t>
            </a:r>
            <a:r>
              <a:rPr lang="en-US">
                <a:latin typeface="Calibri" panose="020F0502020204030204" pitchFamily="34" charset="0"/>
                <a:ea typeface="Calibri" panose="020F0502020204030204" pitchFamily="34" charset="0"/>
                <a:cs typeface="Calibri" panose="020F0502020204030204" pitchFamily="34" charset="0"/>
              </a:rPr>
              <a:t> </a:t>
            </a:r>
            <a:r>
              <a:rPr lang="en-US" err="1">
                <a:latin typeface="Calibri" panose="020F0502020204030204" pitchFamily="34" charset="0"/>
                <a:ea typeface="Calibri" panose="020F0502020204030204" pitchFamily="34" charset="0"/>
                <a:cs typeface="Calibri" panose="020F0502020204030204" pitchFamily="34" charset="0"/>
              </a:rPr>
              <a:t>che</a:t>
            </a:r>
            <a:r>
              <a:rPr lang="en-US">
                <a:latin typeface="Calibri" panose="020F0502020204030204" pitchFamily="34" charset="0"/>
                <a:ea typeface="Calibri" panose="020F0502020204030204" pitchFamily="34" charset="0"/>
                <a:cs typeface="Calibri" panose="020F0502020204030204" pitchFamily="34" charset="0"/>
              </a:rPr>
              <a:t> in </a:t>
            </a:r>
            <a:r>
              <a:rPr lang="en-US" err="1">
                <a:latin typeface="Calibri" panose="020F0502020204030204" pitchFamily="34" charset="0"/>
                <a:ea typeface="Calibri" panose="020F0502020204030204" pitchFamily="34" charset="0"/>
                <a:cs typeface="Calibri" panose="020F0502020204030204" pitchFamily="34" charset="0"/>
              </a:rPr>
              <a:t>fase</a:t>
            </a:r>
            <a:r>
              <a:rPr lang="en-US">
                <a:latin typeface="Calibri" panose="020F0502020204030204" pitchFamily="34" charset="0"/>
                <a:ea typeface="Calibri" panose="020F0502020204030204" pitchFamily="34" charset="0"/>
                <a:cs typeface="Calibri" panose="020F0502020204030204" pitchFamily="34" charset="0"/>
              </a:rPr>
              <a:t> di </a:t>
            </a:r>
            <a:r>
              <a:rPr lang="en-US" err="1">
                <a:latin typeface="Calibri" panose="020F0502020204030204" pitchFamily="34" charset="0"/>
                <a:ea typeface="Calibri" panose="020F0502020204030204" pitchFamily="34" charset="0"/>
                <a:cs typeface="Calibri" panose="020F0502020204030204" pitchFamily="34" charset="0"/>
              </a:rPr>
              <a:t>valutazione</a:t>
            </a:r>
            <a:endParaRPr lang="en-US">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Non va bene per </a:t>
            </a:r>
            <a:r>
              <a:rPr lang="it-IT" err="1">
                <a:latin typeface="Calibri" panose="020F0502020204030204" pitchFamily="34" charset="0"/>
                <a:ea typeface="Calibri" panose="020F0502020204030204" pitchFamily="34" charset="0"/>
                <a:cs typeface="Calibri" panose="020F0502020204030204" pitchFamily="34" charset="0"/>
              </a:rPr>
              <a:t>Qwen</a:t>
            </a:r>
            <a:r>
              <a:rPr lang="it-IT">
                <a:latin typeface="Calibri" panose="020F0502020204030204" pitchFamily="34" charset="0"/>
                <a:ea typeface="Calibri" panose="020F0502020204030204" pitchFamily="34" charset="0"/>
                <a:cs typeface="Calibri" panose="020F0502020204030204" pitchFamily="34" charset="0"/>
              </a:rPr>
              <a:t> poiché dopo la chiusura del JSON, in alcune ricette aggiunge del testo libero in linguaggio naturale e questo succede su 6 ricette su 50 in fase di inferenza e nessuna ricetta in fase di valutazione</a:t>
            </a:r>
          </a:p>
        </p:txBody>
      </p:sp>
    </p:spTree>
    <p:extLst>
      <p:ext uri="{BB962C8B-B14F-4D97-AF65-F5344CB8AC3E}">
        <p14:creationId xmlns:p14="http://schemas.microsoft.com/office/powerpoint/2010/main" val="1339302402"/>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919A-338C-12FC-6D9A-450EC651744B}"/>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683FD98F-0E69-CCC9-BBA9-DED09B9C988E}"/>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151A1DA8-EF31-DD21-5B68-BF4B74AF30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A72BFC45-F25E-F3CC-CFE7-CB6BB91864AA}"/>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86A35B20-0414-1F11-6725-0F3E9B6EEE4D}"/>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8" name="CasellaDiTesto 7">
            <a:extLst>
              <a:ext uri="{FF2B5EF4-FFF2-40B4-BE49-F238E27FC236}">
                <a16:creationId xmlns:a16="http://schemas.microsoft.com/office/drawing/2014/main" id="{506C664A-3E76-DE46-F519-995101770DB7}"/>
              </a:ext>
            </a:extLst>
          </p:cNvPr>
          <p:cNvSpPr txBox="1"/>
          <p:nvPr/>
        </p:nvSpPr>
        <p:spPr>
          <a:xfrm>
            <a:off x="117988" y="940083"/>
            <a:ext cx="12074012" cy="1261884"/>
          </a:xfrm>
          <a:prstGeom prst="rect">
            <a:avLst/>
          </a:prstGeom>
          <a:noFill/>
        </p:spPr>
        <p:txBody>
          <a:bodyPr wrap="squar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L3:  % JSON semanticamente corretti</a:t>
            </a:r>
          </a:p>
          <a:p>
            <a:endParaRPr lang="it-IT" sz="200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Qwen2.5:</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Inferenza: 7 ricette su 50 mostrano errori semantici</a:t>
            </a:r>
          </a:p>
        </p:txBody>
      </p:sp>
      <p:graphicFrame>
        <p:nvGraphicFramePr>
          <p:cNvPr id="5" name="Tabella 4">
            <a:extLst>
              <a:ext uri="{FF2B5EF4-FFF2-40B4-BE49-F238E27FC236}">
                <a16:creationId xmlns:a16="http://schemas.microsoft.com/office/drawing/2014/main" id="{E4307CE3-2F1C-1B88-D538-FC08C5B8E43B}"/>
              </a:ext>
            </a:extLst>
          </p:cNvPr>
          <p:cNvGraphicFramePr>
            <a:graphicFrameLocks noGrp="1"/>
          </p:cNvGraphicFramePr>
          <p:nvPr>
            <p:extLst>
              <p:ext uri="{D42A27DB-BD31-4B8C-83A1-F6EECF244321}">
                <p14:modId xmlns:p14="http://schemas.microsoft.com/office/powerpoint/2010/main" val="3269659719"/>
              </p:ext>
            </p:extLst>
          </p:nvPr>
        </p:nvGraphicFramePr>
        <p:xfrm>
          <a:off x="838200" y="3210830"/>
          <a:ext cx="10515600" cy="2560320"/>
        </p:xfrm>
        <a:graphic>
          <a:graphicData uri="http://schemas.openxmlformats.org/drawingml/2006/table">
            <a:tbl>
              <a:tblPr/>
              <a:tblGrid>
                <a:gridCol w="5257800">
                  <a:extLst>
                    <a:ext uri="{9D8B030D-6E8A-4147-A177-3AD203B41FA5}">
                      <a16:colId xmlns:a16="http://schemas.microsoft.com/office/drawing/2014/main" val="766671309"/>
                    </a:ext>
                  </a:extLst>
                </a:gridCol>
                <a:gridCol w="5257800">
                  <a:extLst>
                    <a:ext uri="{9D8B030D-6E8A-4147-A177-3AD203B41FA5}">
                      <a16:colId xmlns:a16="http://schemas.microsoft.com/office/drawing/2014/main" val="2685142605"/>
                    </a:ext>
                  </a:extLst>
                </a:gridCol>
              </a:tblGrid>
              <a:tr h="0">
                <a:tc>
                  <a:txBody>
                    <a:bodyPr/>
                    <a:lstStyle/>
                    <a:p>
                      <a:pPr>
                        <a:buNone/>
                      </a:pPr>
                      <a:r>
                        <a:rPr lang="it-IT" b="1">
                          <a:latin typeface="Calibri" panose="020F0502020204030204" pitchFamily="34" charset="0"/>
                          <a:ea typeface="Calibri" panose="020F0502020204030204" pitchFamily="34" charset="0"/>
                          <a:cs typeface="Calibri" panose="020F0502020204030204" pitchFamily="34" charset="0"/>
                        </a:rPr>
                        <a:t>Ricetta</a:t>
                      </a:r>
                    </a:p>
                  </a:txBody>
                  <a:tcPr anchor="ctr">
                    <a:lnL>
                      <a:noFill/>
                    </a:lnL>
                    <a:lnR>
                      <a:noFill/>
                    </a:lnR>
                    <a:lnT>
                      <a:noFill/>
                    </a:lnT>
                    <a:lnB>
                      <a:noFill/>
                    </a:lnB>
                    <a:noFill/>
                  </a:tcPr>
                </a:tc>
                <a:tc>
                  <a:txBody>
                    <a:bodyPr/>
                    <a:lstStyle/>
                    <a:p>
                      <a:pPr>
                        <a:buNone/>
                      </a:pPr>
                      <a:r>
                        <a:rPr lang="it-IT" b="1">
                          <a:latin typeface="Calibri" panose="020F0502020204030204" pitchFamily="34" charset="0"/>
                          <a:ea typeface="Calibri" panose="020F0502020204030204" pitchFamily="34" charset="0"/>
                          <a:cs typeface="Calibri" panose="020F0502020204030204" pitchFamily="34" charset="0"/>
                        </a:rPr>
                        <a:t>Tipo di errore semantico</a:t>
                      </a:r>
                    </a:p>
                  </a:txBody>
                  <a:tcPr anchor="ctr">
                    <a:lnL>
                      <a:noFill/>
                    </a:lnL>
                    <a:lnR>
                      <a:noFill/>
                    </a:lnR>
                    <a:lnT>
                      <a:noFill/>
                    </a:lnT>
                    <a:lnB>
                      <a:noFill/>
                    </a:lnB>
                    <a:noFill/>
                  </a:tcPr>
                </a:tc>
                <a:extLst>
                  <a:ext uri="{0D108BD9-81ED-4DB2-BD59-A6C34878D82A}">
                    <a16:rowId xmlns:a16="http://schemas.microsoft.com/office/drawing/2014/main" val="2629033637"/>
                  </a:ext>
                </a:extLst>
              </a:tr>
              <a:tr h="0">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No-Bake Nut Cookies</a:t>
                      </a:r>
                    </a:p>
                  </a:txBody>
                  <a:tcPr anchor="ctr">
                    <a:lnL>
                      <a:noFill/>
                    </a:lnL>
                    <a:lnR>
                      <a:noFill/>
                    </a:lnR>
                    <a:lnT>
                      <a:noFill/>
                    </a:lnT>
                    <a:lnB>
                      <a:noFill/>
                    </a:lnB>
                    <a:noFill/>
                  </a:tcPr>
                </a:tc>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Normalizzazione ingrediente</a:t>
                      </a:r>
                    </a:p>
                  </a:txBody>
                  <a:tcPr anchor="ctr">
                    <a:lnL>
                      <a:noFill/>
                    </a:lnL>
                    <a:lnR>
                      <a:noFill/>
                    </a:lnR>
                    <a:lnT>
                      <a:noFill/>
                    </a:lnT>
                    <a:lnB>
                      <a:noFill/>
                    </a:lnB>
                    <a:noFill/>
                  </a:tcPr>
                </a:tc>
                <a:extLst>
                  <a:ext uri="{0D108BD9-81ED-4DB2-BD59-A6C34878D82A}">
                    <a16:rowId xmlns:a16="http://schemas.microsoft.com/office/drawing/2014/main" val="3870061652"/>
                  </a:ext>
                </a:extLst>
              </a:tr>
              <a:tr h="0">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Reese’s Cups Candy</a:t>
                      </a:r>
                    </a:p>
                  </a:txBody>
                  <a:tcPr anchor="ctr">
                    <a:lnL>
                      <a:noFill/>
                    </a:lnL>
                    <a:lnR>
                      <a:noFill/>
                    </a:lnR>
                    <a:lnT>
                      <a:noFill/>
                    </a:lnT>
                    <a:lnB>
                      <a:noFill/>
                    </a:lnB>
                    <a:noFill/>
                  </a:tcPr>
                </a:tc>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Ingredienti mancanti + titolo incoerente</a:t>
                      </a:r>
                    </a:p>
                  </a:txBody>
                  <a:tcPr anchor="ctr">
                    <a:lnL>
                      <a:noFill/>
                    </a:lnL>
                    <a:lnR>
                      <a:noFill/>
                    </a:lnR>
                    <a:lnT>
                      <a:noFill/>
                    </a:lnT>
                    <a:lnB>
                      <a:noFill/>
                    </a:lnB>
                    <a:noFill/>
                  </a:tcPr>
                </a:tc>
                <a:extLst>
                  <a:ext uri="{0D108BD9-81ED-4DB2-BD59-A6C34878D82A}">
                    <a16:rowId xmlns:a16="http://schemas.microsoft.com/office/drawing/2014/main" val="4057231439"/>
                  </a:ext>
                </a:extLst>
              </a:tr>
              <a:tr h="0">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Double Cherry Delight</a:t>
                      </a:r>
                    </a:p>
                  </a:txBody>
                  <a:tcPr anchor="ctr">
                    <a:lnL>
                      <a:noFill/>
                    </a:lnL>
                    <a:lnR>
                      <a:noFill/>
                    </a:lnR>
                    <a:lnT>
                      <a:noFill/>
                    </a:lnT>
                    <a:lnB>
                      <a:noFill/>
                    </a:lnB>
                    <a:noFill/>
                  </a:tcPr>
                </a:tc>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Ingredienti mancanti</a:t>
                      </a:r>
                    </a:p>
                  </a:txBody>
                  <a:tcPr anchor="ctr">
                    <a:lnL>
                      <a:noFill/>
                    </a:lnL>
                    <a:lnR>
                      <a:noFill/>
                    </a:lnR>
                    <a:lnT>
                      <a:noFill/>
                    </a:lnT>
                    <a:lnB>
                      <a:noFill/>
                    </a:lnB>
                    <a:noFill/>
                  </a:tcPr>
                </a:tc>
                <a:extLst>
                  <a:ext uri="{0D108BD9-81ED-4DB2-BD59-A6C34878D82A}">
                    <a16:rowId xmlns:a16="http://schemas.microsoft.com/office/drawing/2014/main" val="4049404020"/>
                  </a:ext>
                </a:extLst>
              </a:tr>
              <a:tr h="0">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Easy German Chocolate Cake</a:t>
                      </a:r>
                    </a:p>
                  </a:txBody>
                  <a:tcPr anchor="ctr">
                    <a:lnL>
                      <a:noFill/>
                    </a:lnL>
                    <a:lnR>
                      <a:noFill/>
                    </a:lnR>
                    <a:lnT>
                      <a:noFill/>
                    </a:lnT>
                    <a:lnB>
                      <a:noFill/>
                    </a:lnB>
                    <a:noFill/>
                  </a:tcPr>
                </a:tc>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Ingredienti impliciti non elencati</a:t>
                      </a:r>
                    </a:p>
                  </a:txBody>
                  <a:tcPr anchor="ctr">
                    <a:lnL>
                      <a:noFill/>
                    </a:lnL>
                    <a:lnR>
                      <a:noFill/>
                    </a:lnR>
                    <a:lnT>
                      <a:noFill/>
                    </a:lnT>
                    <a:lnB>
                      <a:noFill/>
                    </a:lnB>
                    <a:noFill/>
                  </a:tcPr>
                </a:tc>
                <a:extLst>
                  <a:ext uri="{0D108BD9-81ED-4DB2-BD59-A6C34878D82A}">
                    <a16:rowId xmlns:a16="http://schemas.microsoft.com/office/drawing/2014/main" val="1824916829"/>
                  </a:ext>
                </a:extLst>
              </a:tr>
              <a:tr h="0">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Pear-Lime Salad</a:t>
                      </a:r>
                    </a:p>
                  </a:txBody>
                  <a:tcPr anchor="ctr">
                    <a:lnL>
                      <a:noFill/>
                    </a:lnL>
                    <a:lnR>
                      <a:noFill/>
                    </a:lnR>
                    <a:lnT>
                      <a:noFill/>
                    </a:lnT>
                    <a:lnB>
                      <a:noFill/>
                    </a:lnB>
                    <a:noFill/>
                  </a:tcPr>
                </a:tc>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Ingredienti incompleti (succo non in lista)</a:t>
                      </a:r>
                    </a:p>
                  </a:txBody>
                  <a:tcPr anchor="ctr">
                    <a:lnL>
                      <a:noFill/>
                    </a:lnL>
                    <a:lnR>
                      <a:noFill/>
                    </a:lnR>
                    <a:lnT>
                      <a:noFill/>
                    </a:lnT>
                    <a:lnB>
                      <a:noFill/>
                    </a:lnB>
                    <a:noFill/>
                  </a:tcPr>
                </a:tc>
                <a:extLst>
                  <a:ext uri="{0D108BD9-81ED-4DB2-BD59-A6C34878D82A}">
                    <a16:rowId xmlns:a16="http://schemas.microsoft.com/office/drawing/2014/main" val="4269539528"/>
                  </a:ext>
                </a:extLst>
              </a:tr>
              <a:tr h="0">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Summer Spaghetti</a:t>
                      </a:r>
                    </a:p>
                  </a:txBody>
                  <a:tcPr anchor="ctr">
                    <a:lnL>
                      <a:noFill/>
                    </a:lnL>
                    <a:lnR>
                      <a:noFill/>
                    </a:lnR>
                    <a:lnT>
                      <a:noFill/>
                    </a:lnT>
                    <a:lnB>
                      <a:noFill/>
                    </a:lnB>
                    <a:noFill/>
                  </a:tcPr>
                </a:tc>
                <a:tc>
                  <a:txBody>
                    <a:bodyPr/>
                    <a:lstStyle/>
                    <a:p>
                      <a:pPr>
                        <a:buNone/>
                      </a:pPr>
                      <a:r>
                        <a:rPr lang="it-IT">
                          <a:latin typeface="Calibri" panose="020F0502020204030204" pitchFamily="34" charset="0"/>
                          <a:ea typeface="Calibri" panose="020F0502020204030204" pitchFamily="34" charset="0"/>
                          <a:cs typeface="Calibri" panose="020F0502020204030204" pitchFamily="34" charset="0"/>
                        </a:rPr>
                        <a:t>Ingredienti mancanti</a:t>
                      </a:r>
                    </a:p>
                  </a:txBody>
                  <a:tcPr anchor="ctr">
                    <a:lnL>
                      <a:noFill/>
                    </a:lnL>
                    <a:lnR>
                      <a:noFill/>
                    </a:lnR>
                    <a:lnT>
                      <a:noFill/>
                    </a:lnT>
                    <a:lnB>
                      <a:noFill/>
                    </a:lnB>
                    <a:noFill/>
                  </a:tcPr>
                </a:tc>
                <a:extLst>
                  <a:ext uri="{0D108BD9-81ED-4DB2-BD59-A6C34878D82A}">
                    <a16:rowId xmlns:a16="http://schemas.microsoft.com/office/drawing/2014/main" val="3800524456"/>
                  </a:ext>
                </a:extLst>
              </a:tr>
            </a:tbl>
          </a:graphicData>
        </a:graphic>
      </p:graphicFrame>
    </p:spTree>
    <p:extLst>
      <p:ext uri="{BB962C8B-B14F-4D97-AF65-F5344CB8AC3E}">
        <p14:creationId xmlns:p14="http://schemas.microsoft.com/office/powerpoint/2010/main" val="409143005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460D4-7987-8F5E-2ABB-790273FB8990}"/>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7F0093E5-5B26-75A7-2227-F806C6E17CE8}"/>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08BE4390-57E6-E86F-D2F5-A2487388D6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5D724212-3653-50D9-93DB-966EAA9B186F}"/>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DD29DF04-0CB2-A551-B4F3-BB28A0CE3C76}"/>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8" name="CasellaDiTesto 7">
            <a:extLst>
              <a:ext uri="{FF2B5EF4-FFF2-40B4-BE49-F238E27FC236}">
                <a16:creationId xmlns:a16="http://schemas.microsoft.com/office/drawing/2014/main" id="{FE92A10A-8335-6C0F-6025-F8A2B317A168}"/>
              </a:ext>
            </a:extLst>
          </p:cNvPr>
          <p:cNvSpPr txBox="1"/>
          <p:nvPr/>
        </p:nvSpPr>
        <p:spPr>
          <a:xfrm>
            <a:off x="117988" y="940083"/>
            <a:ext cx="12074012" cy="1261884"/>
          </a:xfrm>
          <a:prstGeom prst="rect">
            <a:avLst/>
          </a:prstGeom>
          <a:noFill/>
        </p:spPr>
        <p:txBody>
          <a:bodyPr wrap="squar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L3:  % JSON semanticamente corretti</a:t>
            </a:r>
          </a:p>
          <a:p>
            <a:endParaRPr lang="it-IT" sz="200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Qwen2.5:</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Valutazione: 6 ricette su 150 mostrano errori semantici</a:t>
            </a:r>
          </a:p>
        </p:txBody>
      </p:sp>
      <p:graphicFrame>
        <p:nvGraphicFramePr>
          <p:cNvPr id="6" name="Tabella 5">
            <a:extLst>
              <a:ext uri="{FF2B5EF4-FFF2-40B4-BE49-F238E27FC236}">
                <a16:creationId xmlns:a16="http://schemas.microsoft.com/office/drawing/2014/main" id="{5C956D88-D6E6-E991-EC74-4894CBE74D06}"/>
              </a:ext>
            </a:extLst>
          </p:cNvPr>
          <p:cNvGraphicFramePr>
            <a:graphicFrameLocks noGrp="1"/>
          </p:cNvGraphicFramePr>
          <p:nvPr>
            <p:extLst>
              <p:ext uri="{D42A27DB-BD31-4B8C-83A1-F6EECF244321}">
                <p14:modId xmlns:p14="http://schemas.microsoft.com/office/powerpoint/2010/main" val="607914028"/>
              </p:ext>
            </p:extLst>
          </p:nvPr>
        </p:nvGraphicFramePr>
        <p:xfrm>
          <a:off x="602371" y="2165261"/>
          <a:ext cx="10987257" cy="4325743"/>
        </p:xfrm>
        <a:graphic>
          <a:graphicData uri="http://schemas.openxmlformats.org/drawingml/2006/table">
            <a:tbl>
              <a:tblPr/>
              <a:tblGrid>
                <a:gridCol w="2482355">
                  <a:extLst>
                    <a:ext uri="{9D8B030D-6E8A-4147-A177-3AD203B41FA5}">
                      <a16:colId xmlns:a16="http://schemas.microsoft.com/office/drawing/2014/main" val="3505697521"/>
                    </a:ext>
                  </a:extLst>
                </a:gridCol>
                <a:gridCol w="2674374">
                  <a:extLst>
                    <a:ext uri="{9D8B030D-6E8A-4147-A177-3AD203B41FA5}">
                      <a16:colId xmlns:a16="http://schemas.microsoft.com/office/drawing/2014/main" val="947810897"/>
                    </a:ext>
                  </a:extLst>
                </a:gridCol>
                <a:gridCol w="5830528">
                  <a:extLst>
                    <a:ext uri="{9D8B030D-6E8A-4147-A177-3AD203B41FA5}">
                      <a16:colId xmlns:a16="http://schemas.microsoft.com/office/drawing/2014/main" val="2684502405"/>
                    </a:ext>
                  </a:extLst>
                </a:gridCol>
              </a:tblGrid>
              <a:tr h="251649">
                <a:tc>
                  <a:txBody>
                    <a:bodyPr/>
                    <a:lstStyle/>
                    <a:p>
                      <a:pPr>
                        <a:buNone/>
                      </a:pPr>
                      <a:r>
                        <a:rPr lang="it-IT" sz="1400" b="1">
                          <a:latin typeface="Calibri" panose="020F0502020204030204" pitchFamily="34" charset="0"/>
                          <a:ea typeface="Calibri" panose="020F0502020204030204" pitchFamily="34" charset="0"/>
                          <a:cs typeface="Calibri" panose="020F0502020204030204" pitchFamily="34" charset="0"/>
                        </a:rPr>
                        <a:t>Ricetta</a:t>
                      </a:r>
                    </a:p>
                  </a:txBody>
                  <a:tcPr marL="43513" marR="43513" marT="21757" marB="21757" anchor="ctr">
                    <a:lnL>
                      <a:noFill/>
                    </a:lnL>
                    <a:lnR>
                      <a:noFill/>
                    </a:lnR>
                    <a:lnT>
                      <a:noFill/>
                    </a:lnT>
                    <a:lnB>
                      <a:noFill/>
                    </a:lnB>
                    <a:noFill/>
                  </a:tcPr>
                </a:tc>
                <a:tc>
                  <a:txBody>
                    <a:bodyPr/>
                    <a:lstStyle/>
                    <a:p>
                      <a:pPr>
                        <a:buNone/>
                      </a:pPr>
                      <a:r>
                        <a:rPr lang="it-IT" sz="1400" b="1">
                          <a:latin typeface="Calibri" panose="020F0502020204030204" pitchFamily="34" charset="0"/>
                          <a:ea typeface="Calibri" panose="020F0502020204030204" pitchFamily="34" charset="0"/>
                          <a:cs typeface="Calibri" panose="020F0502020204030204" pitchFamily="34" charset="0"/>
                        </a:rPr>
                        <a:t>Errore semantico</a:t>
                      </a:r>
                    </a:p>
                  </a:txBody>
                  <a:tcPr marL="43513" marR="43513" marT="21757" marB="21757" anchor="ctr">
                    <a:lnL>
                      <a:noFill/>
                    </a:lnL>
                    <a:lnR>
                      <a:noFill/>
                    </a:lnR>
                    <a:lnT>
                      <a:noFill/>
                    </a:lnT>
                    <a:lnB>
                      <a:noFill/>
                    </a:lnB>
                    <a:noFill/>
                  </a:tcPr>
                </a:tc>
                <a:tc>
                  <a:txBody>
                    <a:bodyPr/>
                    <a:lstStyle/>
                    <a:p>
                      <a:pPr>
                        <a:buNone/>
                      </a:pPr>
                      <a:r>
                        <a:rPr lang="it-IT" sz="1400" b="1">
                          <a:latin typeface="Calibri" panose="020F0502020204030204" pitchFamily="34" charset="0"/>
                          <a:ea typeface="Calibri" panose="020F0502020204030204" pitchFamily="34" charset="0"/>
                          <a:cs typeface="Calibri" panose="020F0502020204030204" pitchFamily="34" charset="0"/>
                        </a:rPr>
                        <a:t>Tipo</a:t>
                      </a:r>
                    </a:p>
                  </a:txBody>
                  <a:tcPr marL="43513" marR="43513" marT="21757" marB="21757" anchor="ctr">
                    <a:lnL>
                      <a:noFill/>
                    </a:lnL>
                    <a:lnR>
                      <a:noFill/>
                    </a:lnR>
                    <a:lnT>
                      <a:noFill/>
                    </a:lnT>
                    <a:lnB>
                      <a:noFill/>
                    </a:lnB>
                    <a:noFill/>
                  </a:tcPr>
                </a:tc>
                <a:extLst>
                  <a:ext uri="{0D108BD9-81ED-4DB2-BD59-A6C34878D82A}">
                    <a16:rowId xmlns:a16="http://schemas.microsoft.com/office/drawing/2014/main" val="1943197395"/>
                  </a:ext>
                </a:extLst>
              </a:tr>
              <a:tr h="1003441">
                <a:tc>
                  <a:txBody>
                    <a:bodyPr/>
                    <a:lstStyle/>
                    <a:p>
                      <a:pPr>
                        <a:buNone/>
                      </a:pPr>
                      <a:r>
                        <a:rPr lang="en-US" sz="900" b="0">
                          <a:latin typeface="Calibri" panose="020F0502020204030204" pitchFamily="34" charset="0"/>
                          <a:ea typeface="Calibri" panose="020F0502020204030204" pitchFamily="34" charset="0"/>
                          <a:cs typeface="Calibri" panose="020F0502020204030204" pitchFamily="34" charset="0"/>
                        </a:rPr>
                        <a:t>Corral Barbecued Beef Steak Strips</a:t>
                      </a:r>
                    </a:p>
                  </a:txBody>
                  <a:tcPr marL="43513" marR="43513" marT="21757" marB="21757" anchor="ctr">
                    <a:lnL>
                      <a:noFill/>
                    </a:lnL>
                    <a:lnR>
                      <a:noFill/>
                    </a:lnR>
                    <a:lnT>
                      <a:noFill/>
                    </a:lnT>
                    <a:lnB>
                      <a:noFill/>
                    </a:lnB>
                    <a:noFill/>
                  </a:tcPr>
                </a:tc>
                <a:tc>
                  <a:txBody>
                    <a:bodyPr/>
                    <a:lstStyle/>
                    <a:p>
                      <a:pPr>
                        <a:buNone/>
                      </a:pPr>
                      <a:r>
                        <a:rPr lang="it-IT" sz="900">
                          <a:latin typeface="Calibri" panose="020F0502020204030204" pitchFamily="34" charset="0"/>
                          <a:ea typeface="Calibri" panose="020F0502020204030204" pitchFamily="34" charset="0"/>
                          <a:cs typeface="Calibri" panose="020F0502020204030204" pitchFamily="34" charset="0"/>
                        </a:rPr>
                        <a:t> Ingrediente errato / </a:t>
                      </a:r>
                      <a:r>
                        <a:rPr lang="it-IT" sz="900" err="1">
                          <a:latin typeface="Calibri" panose="020F0502020204030204" pitchFamily="34" charset="0"/>
                          <a:ea typeface="Calibri" panose="020F0502020204030204" pitchFamily="34" charset="0"/>
                          <a:cs typeface="Calibri" panose="020F0502020204030204" pitchFamily="34" charset="0"/>
                        </a:rPr>
                        <a:t>hallucination</a:t>
                      </a:r>
                      <a:endParaRPr lang="it-IT" sz="900">
                        <a:latin typeface="Calibri" panose="020F0502020204030204" pitchFamily="34" charset="0"/>
                        <a:ea typeface="Calibri" panose="020F0502020204030204" pitchFamily="34" charset="0"/>
                        <a:cs typeface="Calibri" panose="020F0502020204030204" pitchFamily="34" charset="0"/>
                      </a:endParaRPr>
                    </a:p>
                  </a:txBody>
                  <a:tcPr marL="43513" marR="43513" marT="21757" marB="21757" anchor="ctr">
                    <a:lnL>
                      <a:noFill/>
                    </a:lnL>
                    <a:lnR>
                      <a:noFill/>
                    </a:lnR>
                    <a:lnT>
                      <a:noFill/>
                    </a:lnT>
                    <a:lnB>
                      <a:noFill/>
                    </a:lnB>
                    <a:noFill/>
                  </a:tcPr>
                </a:tc>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Compare l’ingrediente "</a:t>
                      </a:r>
                      <a:r>
                        <a:rPr lang="it-IT" sz="900" b="0" err="1">
                          <a:latin typeface="Calibri" panose="020F0502020204030204" pitchFamily="34" charset="0"/>
                          <a:ea typeface="Calibri" panose="020F0502020204030204" pitchFamily="34" charset="0"/>
                          <a:cs typeface="Calibri" panose="020F0502020204030204" pitchFamily="34" charset="0"/>
                        </a:rPr>
                        <a:t>military</a:t>
                      </a:r>
                      <a:r>
                        <a:rPr lang="it-IT" sz="900" b="0">
                          <a:latin typeface="Calibri" panose="020F0502020204030204" pitchFamily="34" charset="0"/>
                          <a:ea typeface="Calibri" panose="020F0502020204030204" pitchFamily="34" charset="0"/>
                          <a:cs typeface="Calibri" panose="020F0502020204030204" pitchFamily="34" charset="0"/>
                        </a:rPr>
                        <a:t>" al posto di "</a:t>
                      </a:r>
                      <a:r>
                        <a:rPr lang="it-IT" sz="900" b="0" err="1">
                          <a:latin typeface="Calibri" panose="020F0502020204030204" pitchFamily="34" charset="0"/>
                          <a:ea typeface="Calibri" panose="020F0502020204030204" pitchFamily="34" charset="0"/>
                          <a:cs typeface="Calibri" panose="020F0502020204030204" pitchFamily="34" charset="0"/>
                        </a:rPr>
                        <a:t>mustard</a:t>
                      </a:r>
                      <a:r>
                        <a:rPr lang="it-IT" sz="900" b="0">
                          <a:latin typeface="Calibri" panose="020F0502020204030204" pitchFamily="34" charset="0"/>
                          <a:ea typeface="Calibri" panose="020F0502020204030204" pitchFamily="34" charset="0"/>
                          <a:cs typeface="Calibri" panose="020F0502020204030204" pitchFamily="34" charset="0"/>
                        </a:rPr>
                        <a:t>" (errore di generazione). L’istruzione parla di “</a:t>
                      </a:r>
                      <a:r>
                        <a:rPr lang="it-IT" sz="900" b="0" err="1">
                          <a:latin typeface="Calibri" panose="020F0502020204030204" pitchFamily="34" charset="0"/>
                          <a:ea typeface="Calibri" panose="020F0502020204030204" pitchFamily="34" charset="0"/>
                          <a:cs typeface="Calibri" panose="020F0502020204030204" pitchFamily="34" charset="0"/>
                        </a:rPr>
                        <a:t>remaining</a:t>
                      </a:r>
                      <a:r>
                        <a:rPr lang="it-IT" sz="900" b="0">
                          <a:latin typeface="Calibri" panose="020F0502020204030204" pitchFamily="34" charset="0"/>
                          <a:ea typeface="Calibri" panose="020F0502020204030204" pitchFamily="34" charset="0"/>
                          <a:cs typeface="Calibri" panose="020F0502020204030204" pitchFamily="34" charset="0"/>
                        </a:rPr>
                        <a:t> </a:t>
                      </a:r>
                      <a:r>
                        <a:rPr lang="it-IT" sz="900" b="0" err="1">
                          <a:latin typeface="Calibri" panose="020F0502020204030204" pitchFamily="34" charset="0"/>
                          <a:ea typeface="Calibri" panose="020F0502020204030204" pitchFamily="34" charset="0"/>
                          <a:cs typeface="Calibri" panose="020F0502020204030204" pitchFamily="34" charset="0"/>
                        </a:rPr>
                        <a:t>ingredients</a:t>
                      </a:r>
                      <a:r>
                        <a:rPr lang="it-IT" sz="900" b="0">
                          <a:latin typeface="Calibri" panose="020F0502020204030204" pitchFamily="34" charset="0"/>
                          <a:ea typeface="Calibri" panose="020F0502020204030204" pitchFamily="34" charset="0"/>
                          <a:cs typeface="Calibri" panose="020F0502020204030204" pitchFamily="34" charset="0"/>
                        </a:rPr>
                        <a:t>” senza specificare chiaramente la senape.</a:t>
                      </a:r>
                    </a:p>
                  </a:txBody>
                  <a:tcPr marL="43513" marR="43513" marT="21757" marB="21757" anchor="ctr">
                    <a:lnL>
                      <a:noFill/>
                    </a:lnL>
                    <a:lnR>
                      <a:noFill/>
                    </a:lnR>
                    <a:lnT>
                      <a:noFill/>
                    </a:lnT>
                    <a:lnB>
                      <a:noFill/>
                    </a:lnB>
                    <a:noFill/>
                  </a:tcPr>
                </a:tc>
                <a:extLst>
                  <a:ext uri="{0D108BD9-81ED-4DB2-BD59-A6C34878D82A}">
                    <a16:rowId xmlns:a16="http://schemas.microsoft.com/office/drawing/2014/main" val="3731204442"/>
                  </a:ext>
                </a:extLst>
              </a:tr>
              <a:tr h="423147">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Green Bean </a:t>
                      </a:r>
                      <a:r>
                        <a:rPr lang="it-IT" sz="900" b="0" err="1">
                          <a:latin typeface="Calibri" panose="020F0502020204030204" pitchFamily="34" charset="0"/>
                          <a:ea typeface="Calibri" panose="020F0502020204030204" pitchFamily="34" charset="0"/>
                          <a:cs typeface="Calibri" panose="020F0502020204030204" pitchFamily="34" charset="0"/>
                        </a:rPr>
                        <a:t>Specialty</a:t>
                      </a:r>
                      <a:endParaRPr lang="it-IT" sz="900" b="0">
                        <a:latin typeface="Calibri" panose="020F0502020204030204" pitchFamily="34" charset="0"/>
                        <a:ea typeface="Calibri" panose="020F0502020204030204" pitchFamily="34" charset="0"/>
                        <a:cs typeface="Calibri" panose="020F0502020204030204" pitchFamily="34" charset="0"/>
                      </a:endParaRPr>
                    </a:p>
                  </a:txBody>
                  <a:tcPr marL="43513" marR="43513" marT="21757" marB="21757" anchor="ctr">
                    <a:lnL>
                      <a:noFill/>
                    </a:lnL>
                    <a:lnR>
                      <a:noFill/>
                    </a:lnR>
                    <a:lnT>
                      <a:noFill/>
                    </a:lnT>
                    <a:lnB>
                      <a:noFill/>
                    </a:lnB>
                    <a:noFill/>
                  </a:tcPr>
                </a:tc>
                <a:tc>
                  <a:txBody>
                    <a:bodyPr/>
                    <a:lstStyle/>
                    <a:p>
                      <a:pPr>
                        <a:buNone/>
                      </a:pPr>
                      <a:r>
                        <a:rPr lang="it-IT" sz="900">
                          <a:latin typeface="Calibri" panose="020F0502020204030204" pitchFamily="34" charset="0"/>
                          <a:ea typeface="Calibri" panose="020F0502020204030204" pitchFamily="34" charset="0"/>
                          <a:cs typeface="Calibri" panose="020F0502020204030204" pitchFamily="34" charset="0"/>
                        </a:rPr>
                        <a:t>Ingrediente errato / </a:t>
                      </a:r>
                      <a:r>
                        <a:rPr lang="it-IT" sz="900" err="1">
                          <a:latin typeface="Calibri" panose="020F0502020204030204" pitchFamily="34" charset="0"/>
                          <a:ea typeface="Calibri" panose="020F0502020204030204" pitchFamily="34" charset="0"/>
                          <a:cs typeface="Calibri" panose="020F0502020204030204" pitchFamily="34" charset="0"/>
                        </a:rPr>
                        <a:t>hallucination</a:t>
                      </a:r>
                      <a:endParaRPr lang="it-IT" sz="900">
                        <a:latin typeface="Calibri" panose="020F0502020204030204" pitchFamily="34" charset="0"/>
                        <a:ea typeface="Calibri" panose="020F0502020204030204" pitchFamily="34" charset="0"/>
                        <a:cs typeface="Calibri" panose="020F0502020204030204" pitchFamily="34" charset="0"/>
                      </a:endParaRPr>
                    </a:p>
                  </a:txBody>
                  <a:tcPr marL="43513" marR="43513" marT="21757" marB="21757" anchor="ctr">
                    <a:lnL>
                      <a:noFill/>
                    </a:lnL>
                    <a:lnR>
                      <a:noFill/>
                    </a:lnR>
                    <a:lnT>
                      <a:noFill/>
                    </a:lnT>
                    <a:lnB>
                      <a:noFill/>
                    </a:lnB>
                    <a:noFill/>
                  </a:tcPr>
                </a:tc>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Anche qui compare "military" invece di "mustard" → errore semantico di sostituzione lessicale.</a:t>
                      </a:r>
                    </a:p>
                  </a:txBody>
                  <a:tcPr marL="43513" marR="43513" marT="21757" marB="21757" anchor="ctr">
                    <a:lnL>
                      <a:noFill/>
                    </a:lnL>
                    <a:lnR>
                      <a:noFill/>
                    </a:lnR>
                    <a:lnT>
                      <a:noFill/>
                    </a:lnT>
                    <a:lnB>
                      <a:noFill/>
                    </a:lnB>
                    <a:noFill/>
                  </a:tcPr>
                </a:tc>
                <a:extLst>
                  <a:ext uri="{0D108BD9-81ED-4DB2-BD59-A6C34878D82A}">
                    <a16:rowId xmlns:a16="http://schemas.microsoft.com/office/drawing/2014/main" val="3906031129"/>
                  </a:ext>
                </a:extLst>
              </a:tr>
              <a:tr h="871638">
                <a:tc>
                  <a:txBody>
                    <a:bodyPr/>
                    <a:lstStyle/>
                    <a:p>
                      <a:pPr>
                        <a:buNone/>
                      </a:pPr>
                      <a:r>
                        <a:rPr lang="it-IT" sz="900" b="0" err="1">
                          <a:latin typeface="Calibri" panose="020F0502020204030204" pitchFamily="34" charset="0"/>
                          <a:ea typeface="Calibri" panose="020F0502020204030204" pitchFamily="34" charset="0"/>
                          <a:cs typeface="Calibri" panose="020F0502020204030204" pitchFamily="34" charset="0"/>
                        </a:rPr>
                        <a:t>Spinach</a:t>
                      </a:r>
                      <a:r>
                        <a:rPr lang="it-IT" sz="900" b="0">
                          <a:latin typeface="Calibri" panose="020F0502020204030204" pitchFamily="34" charset="0"/>
                          <a:ea typeface="Calibri" panose="020F0502020204030204" pitchFamily="34" charset="0"/>
                          <a:cs typeface="Calibri" panose="020F0502020204030204" pitchFamily="34" charset="0"/>
                        </a:rPr>
                        <a:t> Dip</a:t>
                      </a:r>
                    </a:p>
                  </a:txBody>
                  <a:tcPr marL="43513" marR="43513" marT="21757" marB="21757" anchor="ctr">
                    <a:lnL>
                      <a:noFill/>
                    </a:lnL>
                    <a:lnR>
                      <a:noFill/>
                    </a:lnR>
                    <a:lnT>
                      <a:noFill/>
                    </a:lnT>
                    <a:lnB>
                      <a:noFill/>
                    </a:lnB>
                    <a:noFill/>
                  </a:tcPr>
                </a:tc>
                <a:tc>
                  <a:txBody>
                    <a:bodyPr/>
                    <a:lstStyle/>
                    <a:p>
                      <a:pPr>
                        <a:buNone/>
                      </a:pPr>
                      <a:r>
                        <a:rPr lang="it-IT" sz="900">
                          <a:latin typeface="Calibri" panose="020F0502020204030204" pitchFamily="34" charset="0"/>
                          <a:ea typeface="Calibri" panose="020F0502020204030204" pitchFamily="34" charset="0"/>
                          <a:cs typeface="Calibri" panose="020F0502020204030204" pitchFamily="34" charset="0"/>
                        </a:rPr>
                        <a:t>Ricetta semanticamente incoerente</a:t>
                      </a:r>
                    </a:p>
                  </a:txBody>
                  <a:tcPr marL="43513" marR="43513" marT="21757" marB="21757" anchor="ctr">
                    <a:lnL>
                      <a:noFill/>
                    </a:lnL>
                    <a:lnR>
                      <a:noFill/>
                    </a:lnR>
                    <a:lnT>
                      <a:noFill/>
                    </a:lnT>
                    <a:lnB>
                      <a:noFill/>
                    </a:lnB>
                    <a:noFill/>
                  </a:tcPr>
                </a:tc>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Negli ingredienti compaiono agrumi (arance, lime, limoni) e negli step si parla di “Sangaree Punch” e “ice mold”, totalmente scollegati da uno spinach dip. È un caso di contaminazione tra ricette / mixing di task diversi.</a:t>
                      </a:r>
                    </a:p>
                  </a:txBody>
                  <a:tcPr marL="43513" marR="43513" marT="21757" marB="21757" anchor="ctr">
                    <a:lnL>
                      <a:noFill/>
                    </a:lnL>
                    <a:lnR>
                      <a:noFill/>
                    </a:lnR>
                    <a:lnT>
                      <a:noFill/>
                    </a:lnT>
                    <a:lnB>
                      <a:noFill/>
                    </a:lnB>
                    <a:noFill/>
                  </a:tcPr>
                </a:tc>
                <a:extLst>
                  <a:ext uri="{0D108BD9-81ED-4DB2-BD59-A6C34878D82A}">
                    <a16:rowId xmlns:a16="http://schemas.microsoft.com/office/drawing/2014/main" val="2982896400"/>
                  </a:ext>
                </a:extLst>
              </a:tr>
              <a:tr h="541829">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Chicken Funny</a:t>
                      </a:r>
                    </a:p>
                  </a:txBody>
                  <a:tcPr marL="43513" marR="43513" marT="21757" marB="21757" anchor="ctr">
                    <a:lnL>
                      <a:noFill/>
                    </a:lnL>
                    <a:lnR>
                      <a:noFill/>
                    </a:lnR>
                    <a:lnT>
                      <a:noFill/>
                    </a:lnT>
                    <a:lnB>
                      <a:noFill/>
                    </a:lnB>
                    <a:noFill/>
                  </a:tcPr>
                </a:tc>
                <a:tc>
                  <a:txBody>
                    <a:bodyPr/>
                    <a:lstStyle/>
                    <a:p>
                      <a:pPr>
                        <a:buNone/>
                      </a:pPr>
                      <a:r>
                        <a:rPr lang="it-IT" sz="900">
                          <a:latin typeface="Calibri" panose="020F0502020204030204" pitchFamily="34" charset="0"/>
                          <a:ea typeface="Calibri" panose="020F0502020204030204" pitchFamily="34" charset="0"/>
                          <a:cs typeface="Calibri" panose="020F0502020204030204" pitchFamily="34" charset="0"/>
                        </a:rPr>
                        <a:t>Ingrediente mancante</a:t>
                      </a:r>
                    </a:p>
                  </a:txBody>
                  <a:tcPr marL="43513" marR="43513" marT="21757" marB="21757" anchor="ctr">
                    <a:lnL>
                      <a:noFill/>
                    </a:lnL>
                    <a:lnR>
                      <a:noFill/>
                    </a:lnR>
                    <a:lnT>
                      <a:noFill/>
                    </a:lnT>
                    <a:lnB>
                      <a:noFill/>
                    </a:lnB>
                    <a:noFill/>
                  </a:tcPr>
                </a:tc>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Negli step compare “shred cheese and sprinkle on top”, ma il formaggio non è presente negli ingredienti. Incoerenza ingredienti ↔ passi.</a:t>
                      </a:r>
                    </a:p>
                  </a:txBody>
                  <a:tcPr marL="43513" marR="43513" marT="21757" marB="21757" anchor="ctr">
                    <a:lnL>
                      <a:noFill/>
                    </a:lnL>
                    <a:lnR>
                      <a:noFill/>
                    </a:lnR>
                    <a:lnT>
                      <a:noFill/>
                    </a:lnT>
                    <a:lnB>
                      <a:noFill/>
                    </a:lnB>
                    <a:noFill/>
                  </a:tcPr>
                </a:tc>
                <a:extLst>
                  <a:ext uri="{0D108BD9-81ED-4DB2-BD59-A6C34878D82A}">
                    <a16:rowId xmlns:a16="http://schemas.microsoft.com/office/drawing/2014/main" val="1398011406"/>
                  </a:ext>
                </a:extLst>
              </a:tr>
              <a:tr h="614407">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Cheeseburger Potato </a:t>
                      </a:r>
                      <a:r>
                        <a:rPr lang="it-IT" sz="900" b="0" err="1">
                          <a:latin typeface="Calibri" panose="020F0502020204030204" pitchFamily="34" charset="0"/>
                          <a:ea typeface="Calibri" panose="020F0502020204030204" pitchFamily="34" charset="0"/>
                          <a:cs typeface="Calibri" panose="020F0502020204030204" pitchFamily="34" charset="0"/>
                        </a:rPr>
                        <a:t>Soup</a:t>
                      </a:r>
                      <a:endParaRPr lang="it-IT" sz="900" b="0">
                        <a:latin typeface="Calibri" panose="020F0502020204030204" pitchFamily="34" charset="0"/>
                        <a:ea typeface="Calibri" panose="020F0502020204030204" pitchFamily="34" charset="0"/>
                        <a:cs typeface="Calibri" panose="020F0502020204030204" pitchFamily="34" charset="0"/>
                      </a:endParaRPr>
                    </a:p>
                  </a:txBody>
                  <a:tcPr marL="43513" marR="43513" marT="21757" marB="21757" anchor="ctr">
                    <a:lnL>
                      <a:noFill/>
                    </a:lnL>
                    <a:lnR>
                      <a:noFill/>
                    </a:lnR>
                    <a:lnT>
                      <a:noFill/>
                    </a:lnT>
                    <a:lnB>
                      <a:noFill/>
                    </a:lnB>
                    <a:noFill/>
                  </a:tcPr>
                </a:tc>
                <a:tc>
                  <a:txBody>
                    <a:bodyPr/>
                    <a:lstStyle/>
                    <a:p>
                      <a:pPr>
                        <a:buNone/>
                      </a:pPr>
                      <a:r>
                        <a:rPr lang="it-IT" sz="900">
                          <a:latin typeface="Calibri" panose="020F0502020204030204" pitchFamily="34" charset="0"/>
                          <a:ea typeface="Calibri" panose="020F0502020204030204" pitchFamily="34" charset="0"/>
                          <a:cs typeface="Calibri" panose="020F0502020204030204" pitchFamily="34" charset="0"/>
                        </a:rPr>
                        <a:t> Ingrediente mancante</a:t>
                      </a:r>
                    </a:p>
                  </a:txBody>
                  <a:tcPr marL="43513" marR="43513" marT="21757" marB="21757" anchor="ctr">
                    <a:lnL>
                      <a:noFill/>
                    </a:lnL>
                    <a:lnR>
                      <a:noFill/>
                    </a:lnR>
                    <a:lnT>
                      <a:noFill/>
                    </a:lnT>
                    <a:lnB>
                      <a:noFill/>
                    </a:lnB>
                    <a:noFill/>
                  </a:tcPr>
                </a:tc>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Negli step compare la farina (“combine butter/margarine, flour...”), ma flour non è presente nella lista ingredienti.</a:t>
                      </a:r>
                    </a:p>
                  </a:txBody>
                  <a:tcPr marL="43513" marR="43513" marT="21757" marB="21757" anchor="ctr">
                    <a:lnL>
                      <a:noFill/>
                    </a:lnL>
                    <a:lnR>
                      <a:noFill/>
                    </a:lnR>
                    <a:lnT>
                      <a:noFill/>
                    </a:lnT>
                    <a:lnB>
                      <a:noFill/>
                    </a:lnB>
                    <a:noFill/>
                  </a:tcPr>
                </a:tc>
                <a:extLst>
                  <a:ext uri="{0D108BD9-81ED-4DB2-BD59-A6C34878D82A}">
                    <a16:rowId xmlns:a16="http://schemas.microsoft.com/office/drawing/2014/main" val="1795108181"/>
                  </a:ext>
                </a:extLst>
              </a:tr>
              <a:tr h="614407">
                <a:tc>
                  <a:txBody>
                    <a:bodyPr/>
                    <a:lstStyle/>
                    <a:p>
                      <a:pPr>
                        <a:buNone/>
                      </a:pPr>
                      <a:r>
                        <a:rPr lang="it-IT" sz="900" b="0" err="1">
                          <a:latin typeface="Calibri" panose="020F0502020204030204" pitchFamily="34" charset="0"/>
                          <a:ea typeface="Calibri" panose="020F0502020204030204" pitchFamily="34" charset="0"/>
                          <a:cs typeface="Calibri" panose="020F0502020204030204" pitchFamily="34" charset="0"/>
                        </a:rPr>
                        <a:t>Millionaire</a:t>
                      </a:r>
                      <a:r>
                        <a:rPr lang="it-IT" sz="900" b="0">
                          <a:latin typeface="Calibri" panose="020F0502020204030204" pitchFamily="34" charset="0"/>
                          <a:ea typeface="Calibri" panose="020F0502020204030204" pitchFamily="34" charset="0"/>
                          <a:cs typeface="Calibri" panose="020F0502020204030204" pitchFamily="34" charset="0"/>
                        </a:rPr>
                        <a:t> Pie</a:t>
                      </a:r>
                    </a:p>
                  </a:txBody>
                  <a:tcPr marL="43513" marR="43513" marT="21757" marB="21757" anchor="ctr">
                    <a:lnL>
                      <a:noFill/>
                    </a:lnL>
                    <a:lnR>
                      <a:noFill/>
                    </a:lnR>
                    <a:lnT>
                      <a:noFill/>
                    </a:lnT>
                    <a:lnB>
                      <a:noFill/>
                    </a:lnB>
                    <a:noFill/>
                  </a:tcPr>
                </a:tc>
                <a:tc>
                  <a:txBody>
                    <a:bodyPr/>
                    <a:lstStyle/>
                    <a:p>
                      <a:pPr>
                        <a:buNone/>
                      </a:pPr>
                      <a:r>
                        <a:rPr lang="it-IT" sz="900">
                          <a:latin typeface="Calibri" panose="020F0502020204030204" pitchFamily="34" charset="0"/>
                          <a:ea typeface="Calibri" panose="020F0502020204030204" pitchFamily="34" charset="0"/>
                          <a:cs typeface="Calibri" panose="020F0502020204030204" pitchFamily="34" charset="0"/>
                        </a:rPr>
                        <a:t> Ingrediente mancante</a:t>
                      </a:r>
                    </a:p>
                  </a:txBody>
                  <a:tcPr marL="43513" marR="43513" marT="21757" marB="21757" anchor="ctr">
                    <a:lnL>
                      <a:noFill/>
                    </a:lnL>
                    <a:lnR>
                      <a:noFill/>
                    </a:lnR>
                    <a:lnT>
                      <a:noFill/>
                    </a:lnT>
                    <a:lnB>
                      <a:noFill/>
                    </a:lnB>
                    <a:noFill/>
                  </a:tcPr>
                </a:tc>
                <a:tc>
                  <a:txBody>
                    <a:bodyPr/>
                    <a:lstStyle/>
                    <a:p>
                      <a:pPr>
                        <a:buNone/>
                      </a:pPr>
                      <a:r>
                        <a:rPr lang="it-IT" sz="900" b="0">
                          <a:latin typeface="Calibri" panose="020F0502020204030204" pitchFamily="34" charset="0"/>
                          <a:ea typeface="Calibri" panose="020F0502020204030204" pitchFamily="34" charset="0"/>
                          <a:cs typeface="Calibri" panose="020F0502020204030204" pitchFamily="34" charset="0"/>
                        </a:rPr>
                        <a:t>Negli step viene aggiunto “</a:t>
                      </a:r>
                      <a:r>
                        <a:rPr lang="it-IT" sz="900" b="0" err="1">
                          <a:latin typeface="Calibri" panose="020F0502020204030204" pitchFamily="34" charset="0"/>
                          <a:ea typeface="Calibri" panose="020F0502020204030204" pitchFamily="34" charset="0"/>
                          <a:cs typeface="Calibri" panose="020F0502020204030204" pitchFamily="34" charset="0"/>
                        </a:rPr>
                        <a:t>chop</a:t>
                      </a:r>
                      <a:r>
                        <a:rPr lang="it-IT" sz="900" b="0">
                          <a:latin typeface="Calibri" panose="020F0502020204030204" pitchFamily="34" charset="0"/>
                          <a:ea typeface="Calibri" panose="020F0502020204030204" pitchFamily="34" charset="0"/>
                          <a:cs typeface="Calibri" panose="020F0502020204030204" pitchFamily="34" charset="0"/>
                        </a:rPr>
                        <a:t> </a:t>
                      </a:r>
                      <a:r>
                        <a:rPr lang="it-IT" sz="900" b="0" err="1">
                          <a:latin typeface="Calibri" panose="020F0502020204030204" pitchFamily="34" charset="0"/>
                          <a:ea typeface="Calibri" panose="020F0502020204030204" pitchFamily="34" charset="0"/>
                          <a:cs typeface="Calibri" panose="020F0502020204030204" pitchFamily="34" charset="0"/>
                        </a:rPr>
                        <a:t>pecans</a:t>
                      </a:r>
                      <a:r>
                        <a:rPr lang="it-IT" sz="900" b="0">
                          <a:latin typeface="Calibri" panose="020F0502020204030204" pitchFamily="34" charset="0"/>
                          <a:ea typeface="Calibri" panose="020F0502020204030204" pitchFamily="34" charset="0"/>
                          <a:cs typeface="Calibri" panose="020F0502020204030204" pitchFamily="34" charset="0"/>
                        </a:rPr>
                        <a:t>”, ma le noci pecan non sono presenti negli ingredienti.</a:t>
                      </a:r>
                    </a:p>
                  </a:txBody>
                  <a:tcPr marL="43513" marR="43513" marT="21757" marB="21757" anchor="ctr">
                    <a:lnL>
                      <a:noFill/>
                    </a:lnL>
                    <a:lnR>
                      <a:noFill/>
                    </a:lnR>
                    <a:lnT>
                      <a:noFill/>
                    </a:lnT>
                    <a:lnB>
                      <a:noFill/>
                    </a:lnB>
                    <a:noFill/>
                  </a:tcPr>
                </a:tc>
                <a:extLst>
                  <a:ext uri="{0D108BD9-81ED-4DB2-BD59-A6C34878D82A}">
                    <a16:rowId xmlns:a16="http://schemas.microsoft.com/office/drawing/2014/main" val="2388754504"/>
                  </a:ext>
                </a:extLst>
              </a:tr>
            </a:tbl>
          </a:graphicData>
        </a:graphic>
      </p:graphicFrame>
    </p:spTree>
    <p:extLst>
      <p:ext uri="{BB962C8B-B14F-4D97-AF65-F5344CB8AC3E}">
        <p14:creationId xmlns:p14="http://schemas.microsoft.com/office/powerpoint/2010/main" val="170926921"/>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A142B-E2AA-4DA9-A5A4-DB505BEB6B9F}"/>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50DE0C86-88B1-9C45-864F-8B321C4C2EAB}"/>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8950C25B-1F28-0C6A-D8E6-A62B3B4ACE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5A9D95EA-78A7-E279-D7AA-E7D51E57D81F}"/>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4DFD8872-ACD4-7C3E-7278-EB06631CD75F}"/>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8" name="CasellaDiTesto 7">
            <a:extLst>
              <a:ext uri="{FF2B5EF4-FFF2-40B4-BE49-F238E27FC236}">
                <a16:creationId xmlns:a16="http://schemas.microsoft.com/office/drawing/2014/main" id="{15E6B935-BC69-8427-2060-AB24B6175B89}"/>
              </a:ext>
            </a:extLst>
          </p:cNvPr>
          <p:cNvSpPr txBox="1"/>
          <p:nvPr/>
        </p:nvSpPr>
        <p:spPr>
          <a:xfrm>
            <a:off x="117988" y="940083"/>
            <a:ext cx="12074012" cy="1261884"/>
          </a:xfrm>
          <a:prstGeom prst="rect">
            <a:avLst/>
          </a:prstGeom>
          <a:noFill/>
        </p:spPr>
        <p:txBody>
          <a:bodyPr wrap="squar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L3:  % JSON semanticamente corretti</a:t>
            </a:r>
          </a:p>
          <a:p>
            <a:endParaRPr lang="it-IT" sz="200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Phi-3:</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Inferenza: 2 ricette su 50 mostrano errori semantici</a:t>
            </a:r>
          </a:p>
        </p:txBody>
      </p:sp>
      <p:graphicFrame>
        <p:nvGraphicFramePr>
          <p:cNvPr id="6" name="Tabella 5">
            <a:extLst>
              <a:ext uri="{FF2B5EF4-FFF2-40B4-BE49-F238E27FC236}">
                <a16:creationId xmlns:a16="http://schemas.microsoft.com/office/drawing/2014/main" id="{8E9A68DF-EC77-5E01-199F-BA3F89F60598}"/>
              </a:ext>
            </a:extLst>
          </p:cNvPr>
          <p:cNvGraphicFramePr>
            <a:graphicFrameLocks noGrp="1"/>
          </p:cNvGraphicFramePr>
          <p:nvPr>
            <p:extLst>
              <p:ext uri="{D42A27DB-BD31-4B8C-83A1-F6EECF244321}">
                <p14:modId xmlns:p14="http://schemas.microsoft.com/office/powerpoint/2010/main" val="3297772566"/>
              </p:ext>
            </p:extLst>
          </p:nvPr>
        </p:nvGraphicFramePr>
        <p:xfrm>
          <a:off x="710380" y="2845020"/>
          <a:ext cx="10515600" cy="1920240"/>
        </p:xfrm>
        <a:graphic>
          <a:graphicData uri="http://schemas.openxmlformats.org/drawingml/2006/table">
            <a:tbl>
              <a:tblPr/>
              <a:tblGrid>
                <a:gridCol w="3505200">
                  <a:extLst>
                    <a:ext uri="{9D8B030D-6E8A-4147-A177-3AD203B41FA5}">
                      <a16:colId xmlns:a16="http://schemas.microsoft.com/office/drawing/2014/main" val="3285886420"/>
                    </a:ext>
                  </a:extLst>
                </a:gridCol>
                <a:gridCol w="3505200">
                  <a:extLst>
                    <a:ext uri="{9D8B030D-6E8A-4147-A177-3AD203B41FA5}">
                      <a16:colId xmlns:a16="http://schemas.microsoft.com/office/drawing/2014/main" val="1433610206"/>
                    </a:ext>
                  </a:extLst>
                </a:gridCol>
                <a:gridCol w="3505200">
                  <a:extLst>
                    <a:ext uri="{9D8B030D-6E8A-4147-A177-3AD203B41FA5}">
                      <a16:colId xmlns:a16="http://schemas.microsoft.com/office/drawing/2014/main" val="4141756259"/>
                    </a:ext>
                  </a:extLst>
                </a:gridCol>
              </a:tblGrid>
              <a:tr h="0">
                <a:tc>
                  <a:txBody>
                    <a:bodyPr/>
                    <a:lstStyle/>
                    <a:p>
                      <a:pPr>
                        <a:buNone/>
                      </a:pPr>
                      <a:r>
                        <a:rPr lang="it-IT" b="1">
                          <a:latin typeface="Calibri" panose="020F0502020204030204" pitchFamily="34" charset="0"/>
                          <a:ea typeface="Calibri" panose="020F0502020204030204" pitchFamily="34" charset="0"/>
                          <a:cs typeface="Calibri" panose="020F0502020204030204" pitchFamily="34" charset="0"/>
                        </a:rPr>
                        <a:t>Ricetta</a:t>
                      </a:r>
                    </a:p>
                  </a:txBody>
                  <a:tcPr anchor="ctr">
                    <a:lnL>
                      <a:noFill/>
                    </a:lnL>
                    <a:lnR>
                      <a:noFill/>
                    </a:lnR>
                    <a:lnT>
                      <a:noFill/>
                    </a:lnT>
                    <a:lnB>
                      <a:noFill/>
                    </a:lnB>
                    <a:noFill/>
                  </a:tcPr>
                </a:tc>
                <a:tc>
                  <a:txBody>
                    <a:bodyPr/>
                    <a:lstStyle/>
                    <a:p>
                      <a:pPr>
                        <a:buNone/>
                      </a:pPr>
                      <a:r>
                        <a:rPr lang="it-IT" b="1">
                          <a:latin typeface="Calibri" panose="020F0502020204030204" pitchFamily="34" charset="0"/>
                          <a:ea typeface="Calibri" panose="020F0502020204030204" pitchFamily="34" charset="0"/>
                          <a:cs typeface="Calibri" panose="020F0502020204030204" pitchFamily="34" charset="0"/>
                        </a:rPr>
                        <a:t>Errore semantico</a:t>
                      </a:r>
                    </a:p>
                  </a:txBody>
                  <a:tcPr anchor="ctr">
                    <a:lnL>
                      <a:noFill/>
                    </a:lnL>
                    <a:lnR>
                      <a:noFill/>
                    </a:lnR>
                    <a:lnT>
                      <a:noFill/>
                    </a:lnT>
                    <a:lnB>
                      <a:noFill/>
                    </a:lnB>
                    <a:noFill/>
                  </a:tcPr>
                </a:tc>
                <a:tc>
                  <a:txBody>
                    <a:bodyPr/>
                    <a:lstStyle/>
                    <a:p>
                      <a:pPr>
                        <a:buNone/>
                      </a:pPr>
                      <a:r>
                        <a:rPr lang="it-IT" b="1">
                          <a:latin typeface="Calibri" panose="020F0502020204030204" pitchFamily="34" charset="0"/>
                          <a:ea typeface="Calibri" panose="020F0502020204030204" pitchFamily="34" charset="0"/>
                          <a:cs typeface="Calibri" panose="020F0502020204030204" pitchFamily="34" charset="0"/>
                        </a:rPr>
                        <a:t>Tipo</a:t>
                      </a:r>
                    </a:p>
                  </a:txBody>
                  <a:tcPr anchor="ctr">
                    <a:lnL>
                      <a:noFill/>
                    </a:lnL>
                    <a:lnR>
                      <a:noFill/>
                    </a:lnR>
                    <a:lnT>
                      <a:noFill/>
                    </a:lnT>
                    <a:lnB>
                      <a:noFill/>
                    </a:lnB>
                    <a:noFill/>
                  </a:tcPr>
                </a:tc>
                <a:extLst>
                  <a:ext uri="{0D108BD9-81ED-4DB2-BD59-A6C34878D82A}">
                    <a16:rowId xmlns:a16="http://schemas.microsoft.com/office/drawing/2014/main" val="1123125465"/>
                  </a:ext>
                </a:extLst>
              </a:tr>
              <a:tr h="0">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Reese’s Cups Candy</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Uso di “</a:t>
                      </a:r>
                      <a:r>
                        <a:rPr lang="it-IT" b="0" err="1">
                          <a:latin typeface="Calibri" panose="020F0502020204030204" pitchFamily="34" charset="0"/>
                          <a:ea typeface="Calibri" panose="020F0502020204030204" pitchFamily="34" charset="0"/>
                          <a:cs typeface="Calibri" panose="020F0502020204030204" pitchFamily="34" charset="0"/>
                        </a:rPr>
                        <a:t>melted</a:t>
                      </a:r>
                      <a:r>
                        <a:rPr lang="it-IT" b="0">
                          <a:latin typeface="Calibri" panose="020F0502020204030204" pitchFamily="34" charset="0"/>
                          <a:ea typeface="Calibri" panose="020F0502020204030204" pitchFamily="34" charset="0"/>
                          <a:cs typeface="Calibri" panose="020F0502020204030204" pitchFamily="34" charset="0"/>
                        </a:rPr>
                        <a:t> </a:t>
                      </a:r>
                      <a:r>
                        <a:rPr lang="it-IT" b="0" err="1">
                          <a:latin typeface="Calibri" panose="020F0502020204030204" pitchFamily="34" charset="0"/>
                          <a:ea typeface="Calibri" panose="020F0502020204030204" pitchFamily="34" charset="0"/>
                          <a:cs typeface="Calibri" panose="020F0502020204030204" pitchFamily="34" charset="0"/>
                        </a:rPr>
                        <a:t>butter</a:t>
                      </a:r>
                      <a:r>
                        <a:rPr lang="it-IT" b="0">
                          <a:latin typeface="Calibri" panose="020F0502020204030204" pitchFamily="34" charset="0"/>
                          <a:ea typeface="Calibri" panose="020F0502020204030204" pitchFamily="34" charset="0"/>
                          <a:cs typeface="Calibri" panose="020F0502020204030204" pitchFamily="34" charset="0"/>
                        </a:rPr>
                        <a:t>” invece di “</a:t>
                      </a:r>
                      <a:r>
                        <a:rPr lang="it-IT" b="0" err="1">
                          <a:latin typeface="Calibri" panose="020F0502020204030204" pitchFamily="34" charset="0"/>
                          <a:ea typeface="Calibri" panose="020F0502020204030204" pitchFamily="34" charset="0"/>
                          <a:cs typeface="Calibri" panose="020F0502020204030204" pitchFamily="34" charset="0"/>
                        </a:rPr>
                        <a:t>softened</a:t>
                      </a:r>
                      <a:r>
                        <a:rPr lang="it-IT" b="0">
                          <a:latin typeface="Calibri" panose="020F0502020204030204" pitchFamily="34" charset="0"/>
                          <a:ea typeface="Calibri" panose="020F0502020204030204" pitchFamily="34" charset="0"/>
                          <a:cs typeface="Calibri" panose="020F0502020204030204" pitchFamily="34" charset="0"/>
                        </a:rPr>
                        <a:t> </a:t>
                      </a:r>
                      <a:r>
                        <a:rPr lang="it-IT" b="0" err="1">
                          <a:latin typeface="Calibri" panose="020F0502020204030204" pitchFamily="34" charset="0"/>
                          <a:ea typeface="Calibri" panose="020F0502020204030204" pitchFamily="34" charset="0"/>
                          <a:cs typeface="Calibri" panose="020F0502020204030204" pitchFamily="34" charset="0"/>
                        </a:rPr>
                        <a:t>butter</a:t>
                      </a:r>
                      <a:r>
                        <a:rPr lang="it-IT" b="0">
                          <a:latin typeface="Calibri" panose="020F0502020204030204" pitchFamily="34" charset="0"/>
                          <a:ea typeface="Calibri" panose="020F0502020204030204" pitchFamily="34" charset="0"/>
                          <a:cs typeface="Calibri" panose="020F0502020204030204" pitchFamily="34" charset="0"/>
                        </a:rPr>
                        <a:t>”, che altera la consistenza della base</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Ingrediente semanticamente errato</a:t>
                      </a:r>
                    </a:p>
                  </a:txBody>
                  <a:tcPr anchor="ctr">
                    <a:lnL>
                      <a:noFill/>
                    </a:lnL>
                    <a:lnR>
                      <a:noFill/>
                    </a:lnR>
                    <a:lnT>
                      <a:noFill/>
                    </a:lnT>
                    <a:lnB>
                      <a:noFill/>
                    </a:lnB>
                    <a:noFill/>
                  </a:tcPr>
                </a:tc>
                <a:extLst>
                  <a:ext uri="{0D108BD9-81ED-4DB2-BD59-A6C34878D82A}">
                    <a16:rowId xmlns:a16="http://schemas.microsoft.com/office/drawing/2014/main" val="530284987"/>
                  </a:ext>
                </a:extLst>
              </a:tr>
              <a:tr h="0">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Pear-Lime Salad</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Uso di “lime </a:t>
                      </a:r>
                      <a:r>
                        <a:rPr lang="it-IT" b="0" err="1">
                          <a:latin typeface="Calibri" panose="020F0502020204030204" pitchFamily="34" charset="0"/>
                          <a:ea typeface="Calibri" panose="020F0502020204030204" pitchFamily="34" charset="0"/>
                          <a:cs typeface="Calibri" panose="020F0502020204030204" pitchFamily="34" charset="0"/>
                        </a:rPr>
                        <a:t>gelatin</a:t>
                      </a:r>
                      <a:r>
                        <a:rPr lang="it-IT" b="0">
                          <a:latin typeface="Calibri" panose="020F0502020204030204" pitchFamily="34" charset="0"/>
                          <a:ea typeface="Calibri" panose="020F0502020204030204" pitchFamily="34" charset="0"/>
                          <a:cs typeface="Calibri" panose="020F0502020204030204" pitchFamily="34" charset="0"/>
                        </a:rPr>
                        <a:t>” nei passi ma “</a:t>
                      </a:r>
                      <a:r>
                        <a:rPr lang="it-IT" b="0" err="1">
                          <a:latin typeface="Calibri" panose="020F0502020204030204" pitchFamily="34" charset="0"/>
                          <a:ea typeface="Calibri" panose="020F0502020204030204" pitchFamily="34" charset="0"/>
                          <a:cs typeface="Calibri" panose="020F0502020204030204" pitchFamily="34" charset="0"/>
                        </a:rPr>
                        <a:t>gelatin</a:t>
                      </a:r>
                      <a:r>
                        <a:rPr lang="it-IT" b="0">
                          <a:latin typeface="Calibri" panose="020F0502020204030204" pitchFamily="34" charset="0"/>
                          <a:ea typeface="Calibri" panose="020F0502020204030204" pitchFamily="34" charset="0"/>
                          <a:cs typeface="Calibri" panose="020F0502020204030204" pitchFamily="34" charset="0"/>
                        </a:rPr>
                        <a:t>” generico negli ingredienti</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Perdita di specificità</a:t>
                      </a:r>
                    </a:p>
                  </a:txBody>
                  <a:tcPr anchor="ctr">
                    <a:lnL>
                      <a:noFill/>
                    </a:lnL>
                    <a:lnR>
                      <a:noFill/>
                    </a:lnR>
                    <a:lnT>
                      <a:noFill/>
                    </a:lnT>
                    <a:lnB>
                      <a:noFill/>
                    </a:lnB>
                    <a:noFill/>
                  </a:tcPr>
                </a:tc>
                <a:extLst>
                  <a:ext uri="{0D108BD9-81ED-4DB2-BD59-A6C34878D82A}">
                    <a16:rowId xmlns:a16="http://schemas.microsoft.com/office/drawing/2014/main" val="203699024"/>
                  </a:ext>
                </a:extLst>
              </a:tr>
            </a:tbl>
          </a:graphicData>
        </a:graphic>
      </p:graphicFrame>
    </p:spTree>
    <p:extLst>
      <p:ext uri="{BB962C8B-B14F-4D97-AF65-F5344CB8AC3E}">
        <p14:creationId xmlns:p14="http://schemas.microsoft.com/office/powerpoint/2010/main" val="354818009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E47A-910E-EE4C-2511-933872057216}"/>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03FED5B1-1609-D1E2-7867-50D60630BBEE}"/>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1FF28B0F-D32E-1602-DA99-E64AA3CA6E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E947BCDA-9434-5FA7-6329-6BB0DCEEEFE7}"/>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503DF54D-F040-DD2A-C0EB-B3F8EBD1A8CE}"/>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8" name="CasellaDiTesto 7">
            <a:extLst>
              <a:ext uri="{FF2B5EF4-FFF2-40B4-BE49-F238E27FC236}">
                <a16:creationId xmlns:a16="http://schemas.microsoft.com/office/drawing/2014/main" id="{EDDA984A-4E74-0012-B7C5-21884DD2EFEA}"/>
              </a:ext>
            </a:extLst>
          </p:cNvPr>
          <p:cNvSpPr txBox="1"/>
          <p:nvPr/>
        </p:nvSpPr>
        <p:spPr>
          <a:xfrm>
            <a:off x="117988" y="940083"/>
            <a:ext cx="12074012" cy="1261884"/>
          </a:xfrm>
          <a:prstGeom prst="rect">
            <a:avLst/>
          </a:prstGeom>
          <a:noFill/>
        </p:spPr>
        <p:txBody>
          <a:bodyPr wrap="squar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L3:  % JSON semanticamente corretti</a:t>
            </a:r>
          </a:p>
          <a:p>
            <a:endParaRPr lang="it-IT" sz="200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Phi-3:</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Valutazione: 5 ricette su 150 mostrano errori semantici</a:t>
            </a:r>
          </a:p>
        </p:txBody>
      </p:sp>
      <p:graphicFrame>
        <p:nvGraphicFramePr>
          <p:cNvPr id="5" name="Tabella 4">
            <a:extLst>
              <a:ext uri="{FF2B5EF4-FFF2-40B4-BE49-F238E27FC236}">
                <a16:creationId xmlns:a16="http://schemas.microsoft.com/office/drawing/2014/main" id="{7E554DD0-1D40-926F-BACD-6E4C1EEBC1A1}"/>
              </a:ext>
            </a:extLst>
          </p:cNvPr>
          <p:cNvGraphicFramePr>
            <a:graphicFrameLocks noGrp="1"/>
          </p:cNvGraphicFramePr>
          <p:nvPr>
            <p:extLst>
              <p:ext uri="{D42A27DB-BD31-4B8C-83A1-F6EECF244321}">
                <p14:modId xmlns:p14="http://schemas.microsoft.com/office/powerpoint/2010/main" val="2655617286"/>
              </p:ext>
            </p:extLst>
          </p:nvPr>
        </p:nvGraphicFramePr>
        <p:xfrm>
          <a:off x="117988" y="2128287"/>
          <a:ext cx="11956023" cy="4418452"/>
        </p:xfrm>
        <a:graphic>
          <a:graphicData uri="http://schemas.openxmlformats.org/drawingml/2006/table">
            <a:tbl>
              <a:tblPr/>
              <a:tblGrid>
                <a:gridCol w="3930447">
                  <a:extLst>
                    <a:ext uri="{9D8B030D-6E8A-4147-A177-3AD203B41FA5}">
                      <a16:colId xmlns:a16="http://schemas.microsoft.com/office/drawing/2014/main" val="2744595020"/>
                    </a:ext>
                  </a:extLst>
                </a:gridCol>
                <a:gridCol w="4012788">
                  <a:extLst>
                    <a:ext uri="{9D8B030D-6E8A-4147-A177-3AD203B41FA5}">
                      <a16:colId xmlns:a16="http://schemas.microsoft.com/office/drawing/2014/main" val="1416709117"/>
                    </a:ext>
                  </a:extLst>
                </a:gridCol>
                <a:gridCol w="4012788">
                  <a:extLst>
                    <a:ext uri="{9D8B030D-6E8A-4147-A177-3AD203B41FA5}">
                      <a16:colId xmlns:a16="http://schemas.microsoft.com/office/drawing/2014/main" val="4021795950"/>
                    </a:ext>
                  </a:extLst>
                </a:gridCol>
              </a:tblGrid>
              <a:tr h="276275">
                <a:tc>
                  <a:txBody>
                    <a:bodyPr/>
                    <a:lstStyle/>
                    <a:p>
                      <a:pPr>
                        <a:buNone/>
                      </a:pPr>
                      <a:r>
                        <a:rPr lang="it-IT" sz="1800" b="1">
                          <a:latin typeface="Calibri" panose="020F0502020204030204" pitchFamily="34" charset="0"/>
                          <a:ea typeface="Calibri" panose="020F0502020204030204" pitchFamily="34" charset="0"/>
                          <a:cs typeface="Calibri" panose="020F0502020204030204" pitchFamily="34" charset="0"/>
                        </a:rPr>
                        <a:t>Ricetta</a:t>
                      </a:r>
                    </a:p>
                  </a:txBody>
                  <a:tcPr marL="69069" marR="69069" marT="34534" marB="34534" anchor="ctr">
                    <a:lnL>
                      <a:noFill/>
                    </a:lnL>
                    <a:lnR>
                      <a:noFill/>
                    </a:lnR>
                    <a:lnT>
                      <a:noFill/>
                    </a:lnT>
                    <a:lnB>
                      <a:noFill/>
                    </a:lnB>
                    <a:noFill/>
                  </a:tcPr>
                </a:tc>
                <a:tc>
                  <a:txBody>
                    <a:bodyPr/>
                    <a:lstStyle/>
                    <a:p>
                      <a:pPr>
                        <a:buNone/>
                      </a:pPr>
                      <a:r>
                        <a:rPr lang="it-IT" sz="1800" b="1">
                          <a:latin typeface="Calibri" panose="020F0502020204030204" pitchFamily="34" charset="0"/>
                          <a:ea typeface="Calibri" panose="020F0502020204030204" pitchFamily="34" charset="0"/>
                          <a:cs typeface="Calibri" panose="020F0502020204030204" pitchFamily="34" charset="0"/>
                        </a:rPr>
                        <a:t>Errore semantico</a:t>
                      </a:r>
                    </a:p>
                  </a:txBody>
                  <a:tcPr marL="69069" marR="69069" marT="34534" marB="34534" anchor="ctr">
                    <a:lnL>
                      <a:noFill/>
                    </a:lnL>
                    <a:lnR>
                      <a:noFill/>
                    </a:lnR>
                    <a:lnT>
                      <a:noFill/>
                    </a:lnT>
                    <a:lnB>
                      <a:noFill/>
                    </a:lnB>
                    <a:noFill/>
                  </a:tcPr>
                </a:tc>
                <a:tc>
                  <a:txBody>
                    <a:bodyPr/>
                    <a:lstStyle/>
                    <a:p>
                      <a:pPr>
                        <a:buNone/>
                      </a:pPr>
                      <a:r>
                        <a:rPr lang="it-IT" sz="1800" b="1">
                          <a:latin typeface="Calibri" panose="020F0502020204030204" pitchFamily="34" charset="0"/>
                          <a:ea typeface="Calibri" panose="020F0502020204030204" pitchFamily="34" charset="0"/>
                          <a:cs typeface="Calibri" panose="020F0502020204030204" pitchFamily="34" charset="0"/>
                        </a:rPr>
                        <a:t>Tipo</a:t>
                      </a:r>
                    </a:p>
                  </a:txBody>
                  <a:tcPr marL="69069" marR="69069" marT="34534" marB="34534" anchor="ctr">
                    <a:lnL>
                      <a:noFill/>
                    </a:lnL>
                    <a:lnR>
                      <a:noFill/>
                    </a:lnR>
                    <a:lnT>
                      <a:noFill/>
                    </a:lnT>
                    <a:lnB>
                      <a:noFill/>
                    </a:lnB>
                    <a:noFill/>
                  </a:tcPr>
                </a:tc>
                <a:extLst>
                  <a:ext uri="{0D108BD9-81ED-4DB2-BD59-A6C34878D82A}">
                    <a16:rowId xmlns:a16="http://schemas.microsoft.com/office/drawing/2014/main" val="2922691951"/>
                  </a:ext>
                </a:extLst>
              </a:tr>
              <a:tr h="897895">
                <a:tc>
                  <a:txBody>
                    <a:bodyPr/>
                    <a:lstStyle/>
                    <a:p>
                      <a:pPr>
                        <a:buNone/>
                      </a:pPr>
                      <a:r>
                        <a:rPr lang="en-US" sz="1400" b="0">
                          <a:latin typeface="Calibri" panose="020F0502020204030204" pitchFamily="34" charset="0"/>
                          <a:ea typeface="Calibri" panose="020F0502020204030204" pitchFamily="34" charset="0"/>
                          <a:cs typeface="Calibri" panose="020F0502020204030204" pitchFamily="34" charset="0"/>
                        </a:rPr>
                        <a:t>Corral Barbecued Beef Steak Strips</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In lista ingredienti compare “1 Tbsp. military” (termine senza senso culinario): dovrebbe essere mustard (senape)</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Ingrediente semanticamente errato</a:t>
                      </a:r>
                    </a:p>
                  </a:txBody>
                  <a:tcPr marL="69069" marR="69069" marT="34534" marB="34534" anchor="ctr">
                    <a:lnL>
                      <a:noFill/>
                    </a:lnL>
                    <a:lnR>
                      <a:noFill/>
                    </a:lnR>
                    <a:lnT>
                      <a:noFill/>
                    </a:lnT>
                    <a:lnB>
                      <a:noFill/>
                    </a:lnB>
                    <a:noFill/>
                  </a:tcPr>
                </a:tc>
                <a:extLst>
                  <a:ext uri="{0D108BD9-81ED-4DB2-BD59-A6C34878D82A}">
                    <a16:rowId xmlns:a16="http://schemas.microsoft.com/office/drawing/2014/main" val="2761734460"/>
                  </a:ext>
                </a:extLst>
              </a:tr>
              <a:tr h="690689">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Green Bean Specialty</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Compare “2 Tbsp. military” nella salsa: anche qui dovrebbe essere mustard</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Ingrediente semanticamente errato</a:t>
                      </a:r>
                    </a:p>
                  </a:txBody>
                  <a:tcPr marL="69069" marR="69069" marT="34534" marB="34534" anchor="ctr">
                    <a:lnL>
                      <a:noFill/>
                    </a:lnL>
                    <a:lnR>
                      <a:noFill/>
                    </a:lnR>
                    <a:lnT>
                      <a:noFill/>
                    </a:lnT>
                    <a:lnB>
                      <a:noFill/>
                    </a:lnB>
                    <a:noFill/>
                  </a:tcPr>
                </a:tc>
                <a:extLst>
                  <a:ext uri="{0D108BD9-81ED-4DB2-BD59-A6C34878D82A}">
                    <a16:rowId xmlns:a16="http://schemas.microsoft.com/office/drawing/2014/main" val="2463899692"/>
                  </a:ext>
                </a:extLst>
              </a:tr>
              <a:tr h="1105102">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Spinach Dip</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La ricetta “dip” include ingredienti da cocktail/punch (Sangaree Punch, cognac, vodka, rum, agrumi a fette) non coerenti con uno spinach dip</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Contaminazione di ricette / contesto errato</a:t>
                      </a:r>
                    </a:p>
                  </a:txBody>
                  <a:tcPr marL="69069" marR="69069" marT="34534" marB="34534" anchor="ctr">
                    <a:lnL>
                      <a:noFill/>
                    </a:lnL>
                    <a:lnR>
                      <a:noFill/>
                    </a:lnR>
                    <a:lnT>
                      <a:noFill/>
                    </a:lnT>
                    <a:lnB>
                      <a:noFill/>
                    </a:lnB>
                    <a:noFill/>
                  </a:tcPr>
                </a:tc>
                <a:extLst>
                  <a:ext uri="{0D108BD9-81ED-4DB2-BD59-A6C34878D82A}">
                    <a16:rowId xmlns:a16="http://schemas.microsoft.com/office/drawing/2014/main" val="562988174"/>
                  </a:ext>
                </a:extLst>
              </a:tr>
              <a:tr h="690689">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Cranberry Salad</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Nei passi: “Drain No. 2 can crushed pineapple”, ma l’ananas non è negli ingredienti</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Ingrediente mancante nei ingredients</a:t>
                      </a:r>
                    </a:p>
                  </a:txBody>
                  <a:tcPr marL="69069" marR="69069" marT="34534" marB="34534" anchor="ctr">
                    <a:lnL>
                      <a:noFill/>
                    </a:lnL>
                    <a:lnR>
                      <a:noFill/>
                    </a:lnR>
                    <a:lnT>
                      <a:noFill/>
                    </a:lnT>
                    <a:lnB>
                      <a:noFill/>
                    </a:lnB>
                    <a:noFill/>
                  </a:tcPr>
                </a:tc>
                <a:extLst>
                  <a:ext uri="{0D108BD9-81ED-4DB2-BD59-A6C34878D82A}">
                    <a16:rowId xmlns:a16="http://schemas.microsoft.com/office/drawing/2014/main" val="1533484414"/>
                  </a:ext>
                </a:extLst>
              </a:tr>
              <a:tr h="690689">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Rhubarb Coffee Cake</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Nei passi: “Add topping before baking”, ma il topping non è definito negli ingredienti</a:t>
                      </a:r>
                    </a:p>
                  </a:txBody>
                  <a:tcPr marL="69069" marR="69069" marT="34534" marB="34534" anchor="ctr">
                    <a:lnL>
                      <a:noFill/>
                    </a:lnL>
                    <a:lnR>
                      <a:noFill/>
                    </a:lnR>
                    <a:lnT>
                      <a:noFill/>
                    </a:lnT>
                    <a:lnB>
                      <a:noFill/>
                    </a:lnB>
                    <a:noFill/>
                  </a:tcPr>
                </a:tc>
                <a:tc>
                  <a:txBody>
                    <a:bodyPr/>
                    <a:lstStyle/>
                    <a:p>
                      <a:pPr>
                        <a:buNone/>
                      </a:pPr>
                      <a:r>
                        <a:rPr lang="it-IT" sz="1400" b="0">
                          <a:latin typeface="Calibri" panose="020F0502020204030204" pitchFamily="34" charset="0"/>
                          <a:ea typeface="Calibri" panose="020F0502020204030204" pitchFamily="34" charset="0"/>
                          <a:cs typeface="Calibri" panose="020F0502020204030204" pitchFamily="34" charset="0"/>
                        </a:rPr>
                        <a:t>Componente mancante / non specificata</a:t>
                      </a:r>
                    </a:p>
                  </a:txBody>
                  <a:tcPr marL="69069" marR="69069" marT="34534" marB="34534" anchor="ctr">
                    <a:lnL>
                      <a:noFill/>
                    </a:lnL>
                    <a:lnR>
                      <a:noFill/>
                    </a:lnR>
                    <a:lnT>
                      <a:noFill/>
                    </a:lnT>
                    <a:lnB>
                      <a:noFill/>
                    </a:lnB>
                    <a:noFill/>
                  </a:tcPr>
                </a:tc>
                <a:extLst>
                  <a:ext uri="{0D108BD9-81ED-4DB2-BD59-A6C34878D82A}">
                    <a16:rowId xmlns:a16="http://schemas.microsoft.com/office/drawing/2014/main" val="3814165073"/>
                  </a:ext>
                </a:extLst>
              </a:tr>
            </a:tbl>
          </a:graphicData>
        </a:graphic>
      </p:graphicFrame>
    </p:spTree>
    <p:extLst>
      <p:ext uri="{BB962C8B-B14F-4D97-AF65-F5344CB8AC3E}">
        <p14:creationId xmlns:p14="http://schemas.microsoft.com/office/powerpoint/2010/main" val="165075017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D7789-AEB9-1AEF-3D0A-1A438D15B3B2}"/>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3AB184FF-FC10-B4D4-37AF-6E0869A0337C}"/>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98771F69-A4EB-EFAA-B15D-5BEB496006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FD74890D-8B0D-9094-C231-6A84821632E4}"/>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A2E28746-E9DA-B3DA-FC7A-D02D223203E5}"/>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8" name="CasellaDiTesto 7">
            <a:extLst>
              <a:ext uri="{FF2B5EF4-FFF2-40B4-BE49-F238E27FC236}">
                <a16:creationId xmlns:a16="http://schemas.microsoft.com/office/drawing/2014/main" id="{E3D45DD3-5335-2908-5888-B8C919EBF320}"/>
              </a:ext>
            </a:extLst>
          </p:cNvPr>
          <p:cNvSpPr txBox="1"/>
          <p:nvPr/>
        </p:nvSpPr>
        <p:spPr>
          <a:xfrm>
            <a:off x="117988" y="940083"/>
            <a:ext cx="12074012" cy="1261884"/>
          </a:xfrm>
          <a:prstGeom prst="rect">
            <a:avLst/>
          </a:prstGeom>
          <a:noFill/>
        </p:spPr>
        <p:txBody>
          <a:bodyPr wrap="squar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L3:  % JSON semanticamente corretti</a:t>
            </a:r>
          </a:p>
          <a:p>
            <a:endParaRPr lang="it-IT" sz="200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Mistral:</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Inferenza: 1 ricetta su 50 mostrano errori semantici</a:t>
            </a:r>
          </a:p>
        </p:txBody>
      </p:sp>
      <p:graphicFrame>
        <p:nvGraphicFramePr>
          <p:cNvPr id="5" name="Tabella 4">
            <a:extLst>
              <a:ext uri="{FF2B5EF4-FFF2-40B4-BE49-F238E27FC236}">
                <a16:creationId xmlns:a16="http://schemas.microsoft.com/office/drawing/2014/main" id="{A995EEAF-6109-5D13-FA3B-7CBDFBA53DDF}"/>
              </a:ext>
            </a:extLst>
          </p:cNvPr>
          <p:cNvGraphicFramePr>
            <a:graphicFrameLocks noGrp="1"/>
          </p:cNvGraphicFramePr>
          <p:nvPr>
            <p:extLst>
              <p:ext uri="{D42A27DB-BD31-4B8C-83A1-F6EECF244321}">
                <p14:modId xmlns:p14="http://schemas.microsoft.com/office/powerpoint/2010/main" val="131971840"/>
              </p:ext>
            </p:extLst>
          </p:nvPr>
        </p:nvGraphicFramePr>
        <p:xfrm>
          <a:off x="58993" y="3455027"/>
          <a:ext cx="12074013" cy="1584960"/>
        </p:xfrm>
        <a:graphic>
          <a:graphicData uri="http://schemas.openxmlformats.org/drawingml/2006/table">
            <a:tbl>
              <a:tblPr/>
              <a:tblGrid>
                <a:gridCol w="2556388">
                  <a:extLst>
                    <a:ext uri="{9D8B030D-6E8A-4147-A177-3AD203B41FA5}">
                      <a16:colId xmlns:a16="http://schemas.microsoft.com/office/drawing/2014/main" val="2192074884"/>
                    </a:ext>
                  </a:extLst>
                </a:gridCol>
                <a:gridCol w="5492954">
                  <a:extLst>
                    <a:ext uri="{9D8B030D-6E8A-4147-A177-3AD203B41FA5}">
                      <a16:colId xmlns:a16="http://schemas.microsoft.com/office/drawing/2014/main" val="604814770"/>
                    </a:ext>
                  </a:extLst>
                </a:gridCol>
                <a:gridCol w="4024671">
                  <a:extLst>
                    <a:ext uri="{9D8B030D-6E8A-4147-A177-3AD203B41FA5}">
                      <a16:colId xmlns:a16="http://schemas.microsoft.com/office/drawing/2014/main" val="912974773"/>
                    </a:ext>
                  </a:extLst>
                </a:gridCol>
              </a:tblGrid>
              <a:tr h="0">
                <a:tc>
                  <a:txBody>
                    <a:bodyPr/>
                    <a:lstStyle/>
                    <a:p>
                      <a:pPr>
                        <a:buNone/>
                      </a:pPr>
                      <a:r>
                        <a:rPr lang="it-IT" sz="2000" b="1">
                          <a:latin typeface="Calibri" panose="020F0502020204030204" pitchFamily="34" charset="0"/>
                          <a:ea typeface="Calibri" panose="020F0502020204030204" pitchFamily="34" charset="0"/>
                          <a:cs typeface="Calibri" panose="020F0502020204030204" pitchFamily="34" charset="0"/>
                        </a:rPr>
                        <a:t>Ricetta</a:t>
                      </a:r>
                    </a:p>
                  </a:txBody>
                  <a:tcPr anchor="ctr">
                    <a:lnL>
                      <a:noFill/>
                    </a:lnL>
                    <a:lnR>
                      <a:noFill/>
                    </a:lnR>
                    <a:lnT>
                      <a:noFill/>
                    </a:lnT>
                    <a:lnB>
                      <a:noFill/>
                    </a:lnB>
                    <a:noFill/>
                  </a:tcPr>
                </a:tc>
                <a:tc>
                  <a:txBody>
                    <a:bodyPr/>
                    <a:lstStyle/>
                    <a:p>
                      <a:pPr>
                        <a:buNone/>
                      </a:pPr>
                      <a:r>
                        <a:rPr lang="it-IT" sz="2000" b="1">
                          <a:latin typeface="Calibri" panose="020F0502020204030204" pitchFamily="34" charset="0"/>
                          <a:ea typeface="Calibri" panose="020F0502020204030204" pitchFamily="34" charset="0"/>
                          <a:cs typeface="Calibri" panose="020F0502020204030204" pitchFamily="34" charset="0"/>
                        </a:rPr>
                        <a:t>Errore semantico</a:t>
                      </a:r>
                    </a:p>
                  </a:txBody>
                  <a:tcPr anchor="ctr">
                    <a:lnL>
                      <a:noFill/>
                    </a:lnL>
                    <a:lnR>
                      <a:noFill/>
                    </a:lnR>
                    <a:lnT>
                      <a:noFill/>
                    </a:lnT>
                    <a:lnB>
                      <a:noFill/>
                    </a:lnB>
                    <a:noFill/>
                  </a:tcPr>
                </a:tc>
                <a:tc>
                  <a:txBody>
                    <a:bodyPr/>
                    <a:lstStyle/>
                    <a:p>
                      <a:pPr>
                        <a:buNone/>
                      </a:pPr>
                      <a:r>
                        <a:rPr lang="it-IT" sz="2000" b="1">
                          <a:latin typeface="Calibri" panose="020F0502020204030204" pitchFamily="34" charset="0"/>
                          <a:ea typeface="Calibri" panose="020F0502020204030204" pitchFamily="34" charset="0"/>
                          <a:cs typeface="Calibri" panose="020F0502020204030204" pitchFamily="34" charset="0"/>
                        </a:rPr>
                        <a:t>Tipo</a:t>
                      </a:r>
                    </a:p>
                  </a:txBody>
                  <a:tcPr anchor="ctr">
                    <a:lnL>
                      <a:noFill/>
                    </a:lnL>
                    <a:lnR>
                      <a:noFill/>
                    </a:lnR>
                    <a:lnT>
                      <a:noFill/>
                    </a:lnT>
                    <a:lnB>
                      <a:noFill/>
                    </a:lnB>
                    <a:noFill/>
                  </a:tcPr>
                </a:tc>
                <a:extLst>
                  <a:ext uri="{0D108BD9-81ED-4DB2-BD59-A6C34878D82A}">
                    <a16:rowId xmlns:a16="http://schemas.microsoft.com/office/drawing/2014/main" val="4216245609"/>
                  </a:ext>
                </a:extLst>
              </a:tr>
              <a:tr h="0">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Double Cherry </a:t>
                      </a:r>
                      <a:r>
                        <a:rPr lang="it-IT" b="0" err="1">
                          <a:latin typeface="Calibri" panose="020F0502020204030204" pitchFamily="34" charset="0"/>
                          <a:ea typeface="Calibri" panose="020F0502020204030204" pitchFamily="34" charset="0"/>
                          <a:cs typeface="Calibri" panose="020F0502020204030204" pitchFamily="34" charset="0"/>
                        </a:rPr>
                        <a:t>Delight</a:t>
                      </a:r>
                      <a:endParaRPr lang="it-IT" b="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Negli ingredienti compare “the cherries” come voce separata, ma le ciliegie sono già elencate (“1 can dark </a:t>
                      </a:r>
                      <a:r>
                        <a:rPr lang="it-IT" b="0" err="1">
                          <a:latin typeface="Calibri" panose="020F0502020204030204" pitchFamily="34" charset="0"/>
                          <a:ea typeface="Calibri" panose="020F0502020204030204" pitchFamily="34" charset="0"/>
                          <a:cs typeface="Calibri" panose="020F0502020204030204" pitchFamily="34" charset="0"/>
                        </a:rPr>
                        <a:t>sweet</a:t>
                      </a:r>
                      <a:r>
                        <a:rPr lang="it-IT" b="0">
                          <a:latin typeface="Calibri" panose="020F0502020204030204" pitchFamily="34" charset="0"/>
                          <a:ea typeface="Calibri" panose="020F0502020204030204" pitchFamily="34" charset="0"/>
                          <a:cs typeface="Calibri" panose="020F0502020204030204" pitchFamily="34" charset="0"/>
                        </a:rPr>
                        <a:t> </a:t>
                      </a:r>
                      <a:r>
                        <a:rPr lang="it-IT" b="0" err="1">
                          <a:latin typeface="Calibri" panose="020F0502020204030204" pitchFamily="34" charset="0"/>
                          <a:ea typeface="Calibri" panose="020F0502020204030204" pitchFamily="34" charset="0"/>
                          <a:cs typeface="Calibri" panose="020F0502020204030204" pitchFamily="34" charset="0"/>
                        </a:rPr>
                        <a:t>pitted</a:t>
                      </a:r>
                      <a:r>
                        <a:rPr lang="it-IT" b="0">
                          <a:latin typeface="Calibri" panose="020F0502020204030204" pitchFamily="34" charset="0"/>
                          <a:ea typeface="Calibri" panose="020F0502020204030204" pitchFamily="34" charset="0"/>
                          <a:cs typeface="Calibri" panose="020F0502020204030204" pitchFamily="34" charset="0"/>
                        </a:rPr>
                        <a:t> cherries”) → duplicazione/ingrediente ridondante e semanticamente scorretto</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Ridondanza semantica / ingrediente duplicato</a:t>
                      </a:r>
                    </a:p>
                  </a:txBody>
                  <a:tcPr anchor="ctr">
                    <a:lnL>
                      <a:noFill/>
                    </a:lnL>
                    <a:lnR>
                      <a:noFill/>
                    </a:lnR>
                    <a:lnT>
                      <a:noFill/>
                    </a:lnT>
                    <a:lnB>
                      <a:noFill/>
                    </a:lnB>
                    <a:noFill/>
                  </a:tcPr>
                </a:tc>
                <a:extLst>
                  <a:ext uri="{0D108BD9-81ED-4DB2-BD59-A6C34878D82A}">
                    <a16:rowId xmlns:a16="http://schemas.microsoft.com/office/drawing/2014/main" val="255185288"/>
                  </a:ext>
                </a:extLst>
              </a:tr>
            </a:tbl>
          </a:graphicData>
        </a:graphic>
      </p:graphicFrame>
    </p:spTree>
    <p:extLst>
      <p:ext uri="{BB962C8B-B14F-4D97-AF65-F5344CB8AC3E}">
        <p14:creationId xmlns:p14="http://schemas.microsoft.com/office/powerpoint/2010/main" val="234693486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103E9-8ACF-7B7C-DBBF-8BEBC787C7FE}"/>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98E3BE70-6DDC-54E9-C205-97A15F80F72D}"/>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8879D001-E57C-F6A8-D722-EE2AE35338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A2A9A497-B5C1-A89B-B597-4315F09CB299}"/>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10" name="Rettangolo 9">
            <a:extLst>
              <a:ext uri="{FF2B5EF4-FFF2-40B4-BE49-F238E27FC236}">
                <a16:creationId xmlns:a16="http://schemas.microsoft.com/office/drawing/2014/main" id="{D98FCAAD-75C3-D733-5E66-D6000F8D9F7A}"/>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
        <p:nvSpPr>
          <p:cNvPr id="8" name="CasellaDiTesto 7">
            <a:extLst>
              <a:ext uri="{FF2B5EF4-FFF2-40B4-BE49-F238E27FC236}">
                <a16:creationId xmlns:a16="http://schemas.microsoft.com/office/drawing/2014/main" id="{9E9480ED-CED9-8DAB-CCE9-063CA7424A06}"/>
              </a:ext>
            </a:extLst>
          </p:cNvPr>
          <p:cNvSpPr txBox="1"/>
          <p:nvPr/>
        </p:nvSpPr>
        <p:spPr>
          <a:xfrm>
            <a:off x="117988" y="940083"/>
            <a:ext cx="12074012" cy="1261884"/>
          </a:xfrm>
          <a:prstGeom prst="rect">
            <a:avLst/>
          </a:prstGeom>
          <a:noFill/>
        </p:spPr>
        <p:txBody>
          <a:bodyPr wrap="square" rtlCol="0">
            <a:spAutoFit/>
          </a:bodyPr>
          <a:lstStyle/>
          <a:p>
            <a:r>
              <a:rPr lang="it-IT" sz="2000">
                <a:solidFill>
                  <a:srgbClr val="FF0000"/>
                </a:solidFill>
                <a:latin typeface="Calibri" panose="020F0502020204030204" pitchFamily="34" charset="0"/>
                <a:ea typeface="Calibri" panose="020F0502020204030204" pitchFamily="34" charset="0"/>
                <a:cs typeface="Calibri" panose="020F0502020204030204" pitchFamily="34" charset="0"/>
              </a:rPr>
              <a:t>L3:  % JSON semanticamente corretti</a:t>
            </a:r>
          </a:p>
          <a:p>
            <a:endParaRPr lang="it-IT" sz="200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Mistral:</a:t>
            </a:r>
          </a:p>
          <a:p>
            <a:pPr marL="742950" lvl="1"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Valutazione: 2 ricetta su 150 mostrano errori semantici</a:t>
            </a:r>
          </a:p>
        </p:txBody>
      </p:sp>
      <p:graphicFrame>
        <p:nvGraphicFramePr>
          <p:cNvPr id="7" name="Tabella 6">
            <a:extLst>
              <a:ext uri="{FF2B5EF4-FFF2-40B4-BE49-F238E27FC236}">
                <a16:creationId xmlns:a16="http://schemas.microsoft.com/office/drawing/2014/main" id="{3A0C48FC-1518-6549-8C0A-0CCB8E3858DE}"/>
              </a:ext>
            </a:extLst>
          </p:cNvPr>
          <p:cNvGraphicFramePr>
            <a:graphicFrameLocks noGrp="1"/>
          </p:cNvGraphicFramePr>
          <p:nvPr>
            <p:extLst>
              <p:ext uri="{D42A27DB-BD31-4B8C-83A1-F6EECF244321}">
                <p14:modId xmlns:p14="http://schemas.microsoft.com/office/powerpoint/2010/main" val="4160304004"/>
              </p:ext>
            </p:extLst>
          </p:nvPr>
        </p:nvGraphicFramePr>
        <p:xfrm>
          <a:off x="294968" y="3041174"/>
          <a:ext cx="11720052" cy="1645920"/>
        </p:xfrm>
        <a:graphic>
          <a:graphicData uri="http://schemas.openxmlformats.org/drawingml/2006/table">
            <a:tbl>
              <a:tblPr/>
              <a:tblGrid>
                <a:gridCol w="3906684">
                  <a:extLst>
                    <a:ext uri="{9D8B030D-6E8A-4147-A177-3AD203B41FA5}">
                      <a16:colId xmlns:a16="http://schemas.microsoft.com/office/drawing/2014/main" val="3323760269"/>
                    </a:ext>
                  </a:extLst>
                </a:gridCol>
                <a:gridCol w="3906684">
                  <a:extLst>
                    <a:ext uri="{9D8B030D-6E8A-4147-A177-3AD203B41FA5}">
                      <a16:colId xmlns:a16="http://schemas.microsoft.com/office/drawing/2014/main" val="1297969931"/>
                    </a:ext>
                  </a:extLst>
                </a:gridCol>
                <a:gridCol w="3906684">
                  <a:extLst>
                    <a:ext uri="{9D8B030D-6E8A-4147-A177-3AD203B41FA5}">
                      <a16:colId xmlns:a16="http://schemas.microsoft.com/office/drawing/2014/main" val="1535085861"/>
                    </a:ext>
                  </a:extLst>
                </a:gridCol>
              </a:tblGrid>
              <a:tr h="0">
                <a:tc>
                  <a:txBody>
                    <a:bodyPr/>
                    <a:lstStyle/>
                    <a:p>
                      <a:pPr>
                        <a:buNone/>
                      </a:pPr>
                      <a:r>
                        <a:rPr lang="it-IT" b="1">
                          <a:latin typeface="Calibri" panose="020F0502020204030204" pitchFamily="34" charset="0"/>
                          <a:ea typeface="Calibri" panose="020F0502020204030204" pitchFamily="34" charset="0"/>
                          <a:cs typeface="Calibri" panose="020F0502020204030204" pitchFamily="34" charset="0"/>
                        </a:rPr>
                        <a:t>Ricetta</a:t>
                      </a:r>
                    </a:p>
                  </a:txBody>
                  <a:tcPr anchor="ctr">
                    <a:lnL>
                      <a:noFill/>
                    </a:lnL>
                    <a:lnR>
                      <a:noFill/>
                    </a:lnR>
                    <a:lnT>
                      <a:noFill/>
                    </a:lnT>
                    <a:lnB>
                      <a:noFill/>
                    </a:lnB>
                    <a:noFill/>
                  </a:tcPr>
                </a:tc>
                <a:tc>
                  <a:txBody>
                    <a:bodyPr/>
                    <a:lstStyle/>
                    <a:p>
                      <a:pPr>
                        <a:buNone/>
                      </a:pPr>
                      <a:r>
                        <a:rPr lang="it-IT" b="1">
                          <a:latin typeface="Calibri" panose="020F0502020204030204" pitchFamily="34" charset="0"/>
                          <a:ea typeface="Calibri" panose="020F0502020204030204" pitchFamily="34" charset="0"/>
                          <a:cs typeface="Calibri" panose="020F0502020204030204" pitchFamily="34" charset="0"/>
                        </a:rPr>
                        <a:t>Errore semantico</a:t>
                      </a:r>
                    </a:p>
                  </a:txBody>
                  <a:tcPr anchor="ctr">
                    <a:lnL>
                      <a:noFill/>
                    </a:lnL>
                    <a:lnR>
                      <a:noFill/>
                    </a:lnR>
                    <a:lnT>
                      <a:noFill/>
                    </a:lnT>
                    <a:lnB>
                      <a:noFill/>
                    </a:lnB>
                    <a:noFill/>
                  </a:tcPr>
                </a:tc>
                <a:tc>
                  <a:txBody>
                    <a:bodyPr/>
                    <a:lstStyle/>
                    <a:p>
                      <a:pPr>
                        <a:buNone/>
                      </a:pPr>
                      <a:r>
                        <a:rPr lang="it-IT" b="1">
                          <a:latin typeface="Calibri" panose="020F0502020204030204" pitchFamily="34" charset="0"/>
                          <a:ea typeface="Calibri" panose="020F0502020204030204" pitchFamily="34" charset="0"/>
                          <a:cs typeface="Calibri" panose="020F0502020204030204" pitchFamily="34" charset="0"/>
                        </a:rPr>
                        <a:t>Tipo</a:t>
                      </a:r>
                    </a:p>
                  </a:txBody>
                  <a:tcPr anchor="ctr">
                    <a:lnL>
                      <a:noFill/>
                    </a:lnL>
                    <a:lnR>
                      <a:noFill/>
                    </a:lnR>
                    <a:lnT>
                      <a:noFill/>
                    </a:lnT>
                    <a:lnB>
                      <a:noFill/>
                    </a:lnB>
                    <a:noFill/>
                  </a:tcPr>
                </a:tc>
                <a:extLst>
                  <a:ext uri="{0D108BD9-81ED-4DB2-BD59-A6C34878D82A}">
                    <a16:rowId xmlns:a16="http://schemas.microsoft.com/office/drawing/2014/main" val="1923724230"/>
                  </a:ext>
                </a:extLst>
              </a:tr>
              <a:tr h="0">
                <a:tc>
                  <a:txBody>
                    <a:bodyPr/>
                    <a:lstStyle/>
                    <a:p>
                      <a:pPr>
                        <a:buNone/>
                      </a:pPr>
                      <a:r>
                        <a:rPr lang="en-US" b="0">
                          <a:latin typeface="Calibri" panose="020F0502020204030204" pitchFamily="34" charset="0"/>
                          <a:ea typeface="Calibri" panose="020F0502020204030204" pitchFamily="34" charset="0"/>
                          <a:cs typeface="Calibri" panose="020F0502020204030204" pitchFamily="34" charset="0"/>
                        </a:rPr>
                        <a:t>Corral Barbecued Beef Steak Strips</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Presenza di “military” tra gli ingredienti al posto di “mustard” (senape)</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Ingrediente semanticamente errato</a:t>
                      </a:r>
                    </a:p>
                  </a:txBody>
                  <a:tcPr anchor="ctr">
                    <a:lnL>
                      <a:noFill/>
                    </a:lnL>
                    <a:lnR>
                      <a:noFill/>
                    </a:lnR>
                    <a:lnT>
                      <a:noFill/>
                    </a:lnT>
                    <a:lnB>
                      <a:noFill/>
                    </a:lnB>
                    <a:noFill/>
                  </a:tcPr>
                </a:tc>
                <a:extLst>
                  <a:ext uri="{0D108BD9-81ED-4DB2-BD59-A6C34878D82A}">
                    <a16:rowId xmlns:a16="http://schemas.microsoft.com/office/drawing/2014/main" val="165390559"/>
                  </a:ext>
                </a:extLst>
              </a:tr>
              <a:tr h="0">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Green Bean Specialty</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Presenza di “</a:t>
                      </a:r>
                      <a:r>
                        <a:rPr lang="it-IT" b="0" err="1">
                          <a:latin typeface="Calibri" panose="020F0502020204030204" pitchFamily="34" charset="0"/>
                          <a:ea typeface="Calibri" panose="020F0502020204030204" pitchFamily="34" charset="0"/>
                          <a:cs typeface="Calibri" panose="020F0502020204030204" pitchFamily="34" charset="0"/>
                        </a:rPr>
                        <a:t>military</a:t>
                      </a:r>
                      <a:r>
                        <a:rPr lang="it-IT" b="0">
                          <a:latin typeface="Calibri" panose="020F0502020204030204" pitchFamily="34" charset="0"/>
                          <a:ea typeface="Calibri" panose="020F0502020204030204" pitchFamily="34" charset="0"/>
                          <a:cs typeface="Calibri" panose="020F0502020204030204" pitchFamily="34" charset="0"/>
                        </a:rPr>
                        <a:t>” al posto di “</a:t>
                      </a:r>
                      <a:r>
                        <a:rPr lang="it-IT" b="0" err="1">
                          <a:latin typeface="Calibri" panose="020F0502020204030204" pitchFamily="34" charset="0"/>
                          <a:ea typeface="Calibri" panose="020F0502020204030204" pitchFamily="34" charset="0"/>
                          <a:cs typeface="Calibri" panose="020F0502020204030204" pitchFamily="34" charset="0"/>
                        </a:rPr>
                        <a:t>mustard</a:t>
                      </a:r>
                      <a:r>
                        <a:rPr lang="it-IT" b="0">
                          <a:latin typeface="Calibri" panose="020F0502020204030204" pitchFamily="34" charset="0"/>
                          <a:ea typeface="Calibri" panose="020F0502020204030204" pitchFamily="34" charset="0"/>
                          <a:cs typeface="Calibri" panose="020F0502020204030204" pitchFamily="34" charset="0"/>
                        </a:rPr>
                        <a:t>” (senape) nella salsa</a:t>
                      </a:r>
                    </a:p>
                  </a:txBody>
                  <a:tcPr anchor="ctr">
                    <a:lnL>
                      <a:noFill/>
                    </a:lnL>
                    <a:lnR>
                      <a:noFill/>
                    </a:lnR>
                    <a:lnT>
                      <a:noFill/>
                    </a:lnT>
                    <a:lnB>
                      <a:noFill/>
                    </a:lnB>
                    <a:noFill/>
                  </a:tcPr>
                </a:tc>
                <a:tc>
                  <a:txBody>
                    <a:bodyPr/>
                    <a:lstStyle/>
                    <a:p>
                      <a:pPr>
                        <a:buNone/>
                      </a:pPr>
                      <a:r>
                        <a:rPr lang="it-IT" b="0">
                          <a:latin typeface="Calibri" panose="020F0502020204030204" pitchFamily="34" charset="0"/>
                          <a:ea typeface="Calibri" panose="020F0502020204030204" pitchFamily="34" charset="0"/>
                          <a:cs typeface="Calibri" panose="020F0502020204030204" pitchFamily="34" charset="0"/>
                        </a:rPr>
                        <a:t>Ingrediente semanticamente errato</a:t>
                      </a:r>
                    </a:p>
                  </a:txBody>
                  <a:tcPr anchor="ctr">
                    <a:lnL>
                      <a:noFill/>
                    </a:lnL>
                    <a:lnR>
                      <a:noFill/>
                    </a:lnR>
                    <a:lnT>
                      <a:noFill/>
                    </a:lnT>
                    <a:lnB>
                      <a:noFill/>
                    </a:lnB>
                    <a:noFill/>
                  </a:tcPr>
                </a:tc>
                <a:extLst>
                  <a:ext uri="{0D108BD9-81ED-4DB2-BD59-A6C34878D82A}">
                    <a16:rowId xmlns:a16="http://schemas.microsoft.com/office/drawing/2014/main" val="1943624607"/>
                  </a:ext>
                </a:extLst>
              </a:tr>
            </a:tbl>
          </a:graphicData>
        </a:graphic>
      </p:graphicFrame>
    </p:spTree>
    <p:extLst>
      <p:ext uri="{BB962C8B-B14F-4D97-AF65-F5344CB8AC3E}">
        <p14:creationId xmlns:p14="http://schemas.microsoft.com/office/powerpoint/2010/main" val="60633920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C00D3-9D37-2244-8834-1AB542A9DBD8}"/>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865D86F6-387E-DBDA-3F81-3F039430EE13}"/>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C74BA18E-DB99-523E-14DF-52C97A5E6C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A24CD4F2-38FE-3FFE-6A1F-5D405F35574B}"/>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6" name="Text Box 2">
            <a:extLst>
              <a:ext uri="{FF2B5EF4-FFF2-40B4-BE49-F238E27FC236}">
                <a16:creationId xmlns:a16="http://schemas.microsoft.com/office/drawing/2014/main" id="{207C315F-F07B-58BF-953B-7D4EA412214A}"/>
              </a:ext>
            </a:extLst>
          </p:cNvPr>
          <p:cNvSpPr txBox="1">
            <a:spLocks noChangeArrowheads="1"/>
          </p:cNvSpPr>
          <p:nvPr/>
        </p:nvSpPr>
        <p:spPr bwMode="auto">
          <a:xfrm>
            <a:off x="0" y="852268"/>
            <a:ext cx="12192000" cy="231050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r>
              <a:rPr lang="it-IT" b="1">
                <a:solidFill>
                  <a:srgbClr val="FF0000"/>
                </a:solidFill>
                <a:latin typeface="Calibri" panose="020F0502020204030204" pitchFamily="34" charset="0"/>
                <a:ea typeface="Calibri" panose="020F0502020204030204" pitchFamily="34" charset="0"/>
                <a:cs typeface="Calibri" panose="020F0502020204030204" pitchFamily="34" charset="0"/>
              </a:rPr>
              <a:t>RISULTATI SPERIMENTALI:</a:t>
            </a:r>
          </a:p>
          <a:p>
            <a:endParaRPr lang="it-IT" b="1">
              <a:solidFill>
                <a:srgbClr val="FF0000"/>
              </a:solidFill>
              <a:latin typeface="Calibri" panose="020F0502020204030204" pitchFamily="34" charset="0"/>
              <a:ea typeface="Calibri" panose="020F0502020204030204" pitchFamily="34" charset="0"/>
              <a:cs typeface="Calibri" panose="020F0502020204030204" pitchFamily="34" charset="0"/>
            </a:endParaRPr>
          </a:p>
          <a:p>
            <a:r>
              <a:rPr lang="it-IT">
                <a:solidFill>
                  <a:schemeClr val="tx1"/>
                </a:solidFill>
                <a:latin typeface="Calibri" panose="020F0502020204030204" pitchFamily="34" charset="0"/>
                <a:ea typeface="Calibri" panose="020F0502020204030204" pitchFamily="34" charset="0"/>
                <a:cs typeface="Calibri" panose="020F0502020204030204" pitchFamily="34" charset="0"/>
              </a:rPr>
              <a:t>Ricordando:</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L1. Percentuale di JSON sintatticamente validi </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L2. Percentuale di JSON che rispettano lo schema </a:t>
            </a: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L3. Percentuale di JSON semanticamente corretti </a:t>
            </a:r>
          </a:p>
          <a:p>
            <a:endParaRPr lang="it-IT">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it-IT">
                <a:solidFill>
                  <a:schemeClr val="tx1"/>
                </a:solidFill>
                <a:latin typeface="Calibri" panose="020F0502020204030204" pitchFamily="34" charset="0"/>
                <a:ea typeface="Calibri" panose="020F0502020204030204" pitchFamily="34" charset="0"/>
                <a:cs typeface="Calibri" panose="020F0502020204030204" pitchFamily="34" charset="0"/>
              </a:rPr>
              <a:t>Si ottengono i seguenti risultati:</a:t>
            </a:r>
          </a:p>
        </p:txBody>
      </p:sp>
      <p:sp>
        <p:nvSpPr>
          <p:cNvPr id="10" name="Rettangolo 9">
            <a:extLst>
              <a:ext uri="{FF2B5EF4-FFF2-40B4-BE49-F238E27FC236}">
                <a16:creationId xmlns:a16="http://schemas.microsoft.com/office/drawing/2014/main" id="{496117E0-DFAB-EB57-B0A2-2DE99AC94E47}"/>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pic>
        <p:nvPicPr>
          <p:cNvPr id="11" name="Immagine 10" descr="Immagine che contiene testo, schermata, Carattere, numero&#10;&#10;Il contenuto generato dall'IA potrebbe non essere corretto.">
            <a:extLst>
              <a:ext uri="{FF2B5EF4-FFF2-40B4-BE49-F238E27FC236}">
                <a16:creationId xmlns:a16="http://schemas.microsoft.com/office/drawing/2014/main" id="{024DD379-B5F1-8406-4089-64B2EC462A06}"/>
              </a:ext>
            </a:extLst>
          </p:cNvPr>
          <p:cNvPicPr>
            <a:picLocks noChangeAspect="1"/>
          </p:cNvPicPr>
          <p:nvPr/>
        </p:nvPicPr>
        <p:blipFill>
          <a:blip r:embed="rId4"/>
          <a:stretch>
            <a:fillRect/>
          </a:stretch>
        </p:blipFill>
        <p:spPr>
          <a:xfrm>
            <a:off x="657146" y="3429000"/>
            <a:ext cx="10568610" cy="2869489"/>
          </a:xfrm>
          <a:prstGeom prst="rect">
            <a:avLst/>
          </a:prstGeom>
        </p:spPr>
      </p:pic>
    </p:spTree>
    <p:extLst>
      <p:ext uri="{BB962C8B-B14F-4D97-AF65-F5344CB8AC3E}">
        <p14:creationId xmlns:p14="http://schemas.microsoft.com/office/powerpoint/2010/main" val="4029274362"/>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3F469-C4A9-3687-B4D5-614151154946}"/>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990DFF5D-35D8-535E-1563-404B7AAECDF2}"/>
              </a:ext>
            </a:extLst>
          </p:cNvPr>
          <p:cNvSpPr/>
          <p:nvPr/>
        </p:nvSpPr>
        <p:spPr>
          <a:xfrm>
            <a:off x="0" y="-15333"/>
            <a:ext cx="12192000" cy="867601"/>
          </a:xfrm>
          <a:prstGeom prst="rect">
            <a:avLst/>
          </a:prstGeom>
          <a:solidFill>
            <a:srgbClr val="003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pic>
        <p:nvPicPr>
          <p:cNvPr id="2" name="Immagine 1">
            <a:extLst>
              <a:ext uri="{FF2B5EF4-FFF2-40B4-BE49-F238E27FC236}">
                <a16:creationId xmlns:a16="http://schemas.microsoft.com/office/drawing/2014/main" id="{29E19B49-DE39-0965-DC46-F1E77820C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33"/>
            <a:ext cx="8190723" cy="853200"/>
          </a:xfrm>
          <a:prstGeom prst="rect">
            <a:avLst/>
          </a:prstGeom>
        </p:spPr>
      </p:pic>
      <p:sp>
        <p:nvSpPr>
          <p:cNvPr id="4" name="Rettangolo 3">
            <a:extLst>
              <a:ext uri="{FF2B5EF4-FFF2-40B4-BE49-F238E27FC236}">
                <a16:creationId xmlns:a16="http://schemas.microsoft.com/office/drawing/2014/main" id="{A94861D3-D378-A362-30CF-DF510A91682F}"/>
              </a:ext>
            </a:extLst>
          </p:cNvPr>
          <p:cNvSpPr/>
          <p:nvPr/>
        </p:nvSpPr>
        <p:spPr>
          <a:xfrm>
            <a:off x="0" y="6639103"/>
            <a:ext cx="12192000" cy="218899"/>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a:p>
        </p:txBody>
      </p:sp>
      <p:sp>
        <p:nvSpPr>
          <p:cNvPr id="6" name="Text Box 2">
            <a:extLst>
              <a:ext uri="{FF2B5EF4-FFF2-40B4-BE49-F238E27FC236}">
                <a16:creationId xmlns:a16="http://schemas.microsoft.com/office/drawing/2014/main" id="{889898D5-E036-FF9F-DD8A-130AC8701840}"/>
              </a:ext>
            </a:extLst>
          </p:cNvPr>
          <p:cNvSpPr txBox="1">
            <a:spLocks noChangeArrowheads="1"/>
          </p:cNvSpPr>
          <p:nvPr/>
        </p:nvSpPr>
        <p:spPr bwMode="auto">
          <a:xfrm>
            <a:off x="0" y="852268"/>
            <a:ext cx="12192000" cy="60192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nchor="t">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5pPr>
            <a:lvl6pPr marL="25146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6pPr>
            <a:lvl7pPr marL="29718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7pPr>
            <a:lvl8pPr marL="34290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8pPr>
            <a:lvl9pPr marL="3886200" indent="-228600" defTabSz="449263"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0"/>
                <a:cs typeface="Lucida Sans Unicode" charset="0"/>
              </a:defRPr>
            </a:lvl9pPr>
          </a:lstStyle>
          <a:p>
            <a:r>
              <a:rPr lang="it-IT" sz="2500">
                <a:solidFill>
                  <a:srgbClr val="FF0000"/>
                </a:solidFill>
                <a:latin typeface="Calibri" panose="020F0502020204030204" pitchFamily="34" charset="0"/>
                <a:ea typeface="Calibri" panose="020F0502020204030204" pitchFamily="34" charset="0"/>
                <a:cs typeface="Calibri" panose="020F0502020204030204" pitchFamily="34" charset="0"/>
              </a:rPr>
              <a:t>CONCLUSIONI</a:t>
            </a:r>
          </a:p>
          <a:p>
            <a:endParaRPr lang="it-IT">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I valori sono coerenti con le aspettative: si osserva un miglioramento evidente per </a:t>
            </a:r>
            <a:r>
              <a:rPr lang="it-IT" err="1">
                <a:latin typeface="Calibri" panose="020F0502020204030204" pitchFamily="34" charset="0"/>
                <a:ea typeface="Calibri" panose="020F0502020204030204" pitchFamily="34" charset="0"/>
                <a:cs typeface="Calibri" panose="020F0502020204030204" pitchFamily="34" charset="0"/>
              </a:rPr>
              <a:t>Qwen</a:t>
            </a:r>
            <a:r>
              <a:rPr lang="it-IT">
                <a:latin typeface="Calibri" panose="020F0502020204030204" pitchFamily="34" charset="0"/>
                <a:ea typeface="Calibri" panose="020F0502020204030204" pitchFamily="34" charset="0"/>
                <a:cs typeface="Calibri" panose="020F0502020204030204" pitchFamily="34" charset="0"/>
              </a:rPr>
              <a:t>, mentre anche gli altri SLM mostrano progressi, seppur meno marcati, considerando le già buone prestazioni in fase di inferenza iniziale.</a:t>
            </a:r>
          </a:p>
          <a:p>
            <a:pPr marL="285750" indent="-285750">
              <a:buFont typeface="Arial" panose="020B0604020202020204" pitchFamily="34" charset="0"/>
              <a:buChar char="•"/>
            </a:pPr>
            <a:endParaRPr lang="it-I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Tutti gli Small Language Models mostrano miglioramenti consistenti dopo il fine-tuning su tutte le metriche di valutazione.</a:t>
            </a:r>
          </a:p>
          <a:p>
            <a:pPr marL="285750" indent="-285750">
              <a:buFont typeface="Arial" panose="020B0604020202020204" pitchFamily="34" charset="0"/>
              <a:buChar char="•"/>
            </a:pPr>
            <a:endParaRPr lang="it-I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Un risultato particolarmente rilevante riguarda </a:t>
            </a:r>
            <a:r>
              <a:rPr lang="it-IT" err="1">
                <a:latin typeface="Calibri" panose="020F0502020204030204" pitchFamily="34" charset="0"/>
                <a:ea typeface="Calibri" panose="020F0502020204030204" pitchFamily="34" charset="0"/>
                <a:cs typeface="Calibri" panose="020F0502020204030204" pitchFamily="34" charset="0"/>
              </a:rPr>
              <a:t>Qwen</a:t>
            </a:r>
            <a:r>
              <a:rPr lang="it-IT">
                <a:latin typeface="Calibri" panose="020F0502020204030204" pitchFamily="34" charset="0"/>
                <a:ea typeface="Calibri" panose="020F0502020204030204" pitchFamily="34" charset="0"/>
                <a:cs typeface="Calibri" panose="020F0502020204030204" pitchFamily="34" charset="0"/>
              </a:rPr>
              <a:t> 2.5, che presenta le prestazioni peggiori nella fase di inferenza iniziale, ma ottiene il maggiore miglioramento relativo dopo il fine-tuning. Questo evidenzia l’efficacia della specializzazione verticale di dominio, soprattutto per modelli molto compatti.</a:t>
            </a:r>
          </a:p>
          <a:p>
            <a:pPr marL="285750" indent="-285750">
              <a:buFont typeface="Arial" panose="020B0604020202020204" pitchFamily="34" charset="0"/>
              <a:buChar char="•"/>
            </a:pPr>
            <a:endParaRPr lang="it-I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Nel complesso, i risultati confermano l’obiettivo principale del progetto: la specializzazione supera la generalizzazione nei compiti verticali.</a:t>
            </a:r>
          </a:p>
          <a:p>
            <a:pPr marL="285750" indent="-285750">
              <a:buFont typeface="Arial" panose="020B0604020202020204" pitchFamily="34" charset="0"/>
              <a:buChar char="•"/>
            </a:pPr>
            <a:endParaRPr lang="it-I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it-IT">
                <a:latin typeface="Calibri" panose="020F0502020204030204" pitchFamily="34" charset="0"/>
                <a:ea typeface="Calibri" panose="020F0502020204030204" pitchFamily="34" charset="0"/>
                <a:cs typeface="Calibri" panose="020F0502020204030204" pitchFamily="34" charset="0"/>
              </a:rPr>
              <a:t>Gli SLM fine-</a:t>
            </a:r>
            <a:r>
              <a:rPr lang="it-IT" err="1">
                <a:latin typeface="Calibri" panose="020F0502020204030204" pitchFamily="34" charset="0"/>
                <a:ea typeface="Calibri" panose="020F0502020204030204" pitchFamily="34" charset="0"/>
                <a:cs typeface="Calibri" panose="020F0502020204030204" pitchFamily="34" charset="0"/>
              </a:rPr>
              <a:t>tuned</a:t>
            </a:r>
            <a:r>
              <a:rPr lang="it-IT">
                <a:latin typeface="Calibri" panose="020F0502020204030204" pitchFamily="34" charset="0"/>
                <a:ea typeface="Calibri" panose="020F0502020204030204" pitchFamily="34" charset="0"/>
                <a:cs typeface="Calibri" panose="020F0502020204030204" pitchFamily="34" charset="0"/>
              </a:rPr>
              <a:t> possono avvicinarsi alle prestazioni di un LLM su task strutturati specifici di dominio, richiedendo al contempo risorse computazionali significativamente inferiori.</a:t>
            </a:r>
          </a:p>
          <a:p>
            <a:pPr marL="285750" indent="-285750">
              <a:buFont typeface="Arial" panose="020B0604020202020204" pitchFamily="34" charset="0"/>
              <a:buChar char="•"/>
            </a:pPr>
            <a:endParaRPr lang="it-IT">
              <a:latin typeface="Calibri"/>
              <a:ea typeface="Calibri"/>
              <a:cs typeface="Calibri"/>
            </a:endParaRPr>
          </a:p>
          <a:p>
            <a:pPr marL="285750" indent="-285750">
              <a:buFont typeface="Arial" panose="020B0604020202020204" pitchFamily="34" charset="0"/>
              <a:buChar char="•"/>
            </a:pPr>
            <a:r>
              <a:rPr lang="it-IT">
                <a:latin typeface="Calibri"/>
                <a:ea typeface="Calibri"/>
                <a:cs typeface="Arial"/>
              </a:rPr>
              <a:t>In sintesi, i risultati mostrano che la specializzazione di modelli di piccole dimensioni è una strategia efficace quando il dominio è ben definito. Questo rende gli SLM una soluzione concreta e sostenibile in contesti reali, dove contano sia le prestazioni sia i costi computazionali</a:t>
            </a:r>
            <a:r>
              <a:rPr lang="it-IT">
                <a:latin typeface="Arial"/>
                <a:ea typeface="Calibri"/>
                <a:cs typeface="Arial"/>
              </a:rPr>
              <a:t>.</a:t>
            </a:r>
            <a:endParaRPr lang="it-IT">
              <a:latin typeface="Calibri"/>
              <a:ea typeface="Calibri"/>
              <a:cs typeface="Calibri" panose="020F0502020204030204" pitchFamily="34" charset="0"/>
            </a:endParaRPr>
          </a:p>
          <a:p>
            <a:pPr marL="285750" indent="-285750">
              <a:buFont typeface="Arial" panose="020B0604020202020204" pitchFamily="34" charset="0"/>
              <a:buChar char="•"/>
            </a:pPr>
            <a:endParaRPr lang="it-IT">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ttangolo 9">
            <a:extLst>
              <a:ext uri="{FF2B5EF4-FFF2-40B4-BE49-F238E27FC236}">
                <a16:creationId xmlns:a16="http://schemas.microsoft.com/office/drawing/2014/main" id="{82B5D12E-74E1-6CB6-2AC9-B93365D18AE9}"/>
              </a:ext>
            </a:extLst>
          </p:cNvPr>
          <p:cNvSpPr/>
          <p:nvPr/>
        </p:nvSpPr>
        <p:spPr>
          <a:xfrm>
            <a:off x="0" y="6536887"/>
            <a:ext cx="12192000" cy="321115"/>
          </a:xfrm>
          <a:prstGeom prst="rect">
            <a:avLst/>
          </a:prstGeom>
          <a:solidFill>
            <a:srgbClr val="0033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1" b="1"/>
          </a:p>
        </p:txBody>
      </p:sp>
    </p:spTree>
    <p:extLst>
      <p:ext uri="{BB962C8B-B14F-4D97-AF65-F5344CB8AC3E}">
        <p14:creationId xmlns:p14="http://schemas.microsoft.com/office/powerpoint/2010/main" val="179448778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fb4df68-f464-458c-a546-00fb3af66f6a}" enabled="0" method="" siteId="{ffb4df68-f464-458c-a546-00fb3af66f6a}" removed="1"/>
</clbl:labelList>
</file>

<file path=docProps/app.xml><?xml version="1.0" encoding="utf-8"?>
<Properties xmlns="http://schemas.openxmlformats.org/officeDocument/2006/extended-properties" xmlns:vt="http://schemas.openxmlformats.org/officeDocument/2006/docPropsVTypes">
  <TotalTime>0</TotalTime>
  <Words>2582</Words>
  <Application>Microsoft Office PowerPoint</Application>
  <PresentationFormat>Widescreen</PresentationFormat>
  <Paragraphs>231</Paragraphs>
  <Slides>20</Slides>
  <Notes>20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20</vt:i4>
      </vt:variant>
    </vt:vector>
  </HeadingPairs>
  <TitlesOfParts>
    <vt:vector size="26" baseType="lpstr">
      <vt:lpstr>Aptos</vt:lpstr>
      <vt:lpstr>Aptos Display</vt:lpstr>
      <vt:lpstr>Arial</vt:lpstr>
      <vt:lpstr>Calibri</vt:lpstr>
      <vt:lpstr>Cambria Math</vt:lpstr>
      <vt:lpstr>Tema di Office</vt:lpstr>
      <vt:lpstr>Fine Tuning –SLM: Fare bene con poco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FARINELLI</dc:creator>
  <cp:lastModifiedBy>MARTA D'INGILLO</cp:lastModifiedBy>
  <cp:revision>2</cp:revision>
  <dcterms:created xsi:type="dcterms:W3CDTF">2026-02-07T20:34:09Z</dcterms:created>
  <dcterms:modified xsi:type="dcterms:W3CDTF">2026-02-08T00:33:00Z</dcterms:modified>
</cp:coreProperties>
</file>